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6" r:id="rId2"/>
    <p:sldId id="264" r:id="rId3"/>
    <p:sldId id="258" r:id="rId4"/>
    <p:sldId id="257" r:id="rId5"/>
    <p:sldId id="259" r:id="rId6"/>
    <p:sldId id="262" r:id="rId7"/>
    <p:sldId id="260" r:id="rId8"/>
    <p:sldId id="263" r:id="rId9"/>
    <p:sldId id="266" r:id="rId10"/>
    <p:sldId id="261" r:id="rId11"/>
    <p:sldId id="283" r:id="rId12"/>
    <p:sldId id="275" r:id="rId13"/>
    <p:sldId id="274" r:id="rId14"/>
    <p:sldId id="294" r:id="rId15"/>
    <p:sldId id="267" r:id="rId16"/>
    <p:sldId id="269" r:id="rId17"/>
    <p:sldId id="277" r:id="rId18"/>
    <p:sldId id="278" r:id="rId19"/>
    <p:sldId id="279" r:id="rId20"/>
    <p:sldId id="280" r:id="rId21"/>
    <p:sldId id="282" r:id="rId22"/>
    <p:sldId id="296" r:id="rId23"/>
    <p:sldId id="297" r:id="rId24"/>
    <p:sldId id="295" r:id="rId25"/>
    <p:sldId id="26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EFEB1A4-0CC4-4C09-B84C-6F3EBE4AEE50}">
          <p14:sldIdLst>
            <p14:sldId id="256"/>
            <p14:sldId id="264"/>
            <p14:sldId id="258"/>
            <p14:sldId id="257"/>
            <p14:sldId id="259"/>
            <p14:sldId id="262"/>
            <p14:sldId id="260"/>
            <p14:sldId id="263"/>
            <p14:sldId id="266"/>
            <p14:sldId id="261"/>
            <p14:sldId id="283"/>
            <p14:sldId id="275"/>
            <p14:sldId id="274"/>
            <p14:sldId id="294"/>
            <p14:sldId id="267"/>
            <p14:sldId id="269"/>
            <p14:sldId id="277"/>
            <p14:sldId id="278"/>
            <p14:sldId id="279"/>
            <p14:sldId id="280"/>
            <p14:sldId id="282"/>
            <p14:sldId id="296"/>
            <p14:sldId id="297"/>
            <p14:sldId id="295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81" d="100"/>
          <a:sy n="81" d="100"/>
        </p:scale>
        <p:origin x="90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596080-3542-4A9C-8CCA-B41DA5DA6BE5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64883E-101E-49C0-AB9A-67D4B4B9E7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285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" name="Google Shape;1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6" name="Google Shape;25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8" name="Google Shape;24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5" name="Google Shape;405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118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29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087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58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4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078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31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45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7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8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9019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472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61351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224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213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534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E81352-D430-45BD-9ADF-9D376B8936B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3E8C58A-5032-49BF-9B63-82D0508B5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5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pngimg.com/png/18831-team-png-pic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lthub.ubc.ca/guides/github-instructor-guide/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DB302-4E04-4584-A654-652459DF90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9453" y="2079414"/>
            <a:ext cx="8522163" cy="1646302"/>
          </a:xfrm>
        </p:spPr>
        <p:txBody>
          <a:bodyPr/>
          <a:lstStyle/>
          <a:p>
            <a:pPr algn="ctr"/>
            <a:r>
              <a:rPr lang="en-US" dirty="0"/>
              <a:t>Manufacturing Downtime</a:t>
            </a:r>
            <a:br>
              <a:rPr lang="ar-EG" dirty="0"/>
            </a:br>
            <a:r>
              <a:rPr lang="en-US" dirty="0"/>
              <a:t> Analysis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3E988-832A-4181-9B8E-210A2310F8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DEPI_4 Data Analysis Power Bi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1EBA1-BF2D-4073-9A03-AF77EA181B3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14338" y="5353216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42D24-1F72-4C3E-9DD6-B2D5B260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79EB6-DD3A-477E-9423-9E0A654325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3402"/>
            <a:ext cx="3356186" cy="3880773"/>
          </a:xfrm>
        </p:spPr>
        <p:txBody>
          <a:bodyPr/>
          <a:lstStyle/>
          <a:p>
            <a:pPr>
              <a:buClr>
                <a:schemeClr val="tx1"/>
              </a:buClr>
              <a:buSzPct val="96000"/>
              <a:buFont typeface="Wingdings" panose="05000000000000000000" pitchFamily="2" charset="2"/>
              <a:buChar char="Ø"/>
            </a:pPr>
            <a:r>
              <a:rPr lang="en-US" b="1" dirty="0"/>
              <a:t>1)</a:t>
            </a:r>
            <a:r>
              <a:rPr lang="en-US" dirty="0"/>
              <a:t> </a:t>
            </a:r>
            <a:r>
              <a:rPr lang="en-US" b="1" dirty="0"/>
              <a:t>Team Members   </a:t>
            </a:r>
          </a:p>
          <a:p>
            <a:pPr marL="0" indent="0">
              <a:buClr>
                <a:schemeClr val="tx1"/>
              </a:buClr>
              <a:buSzPct val="96000"/>
              <a:buNone/>
            </a:pPr>
            <a:r>
              <a:rPr lang="en-US" b="1" dirty="0"/>
              <a:t>                </a:t>
            </a:r>
          </a:p>
          <a:p>
            <a:pPr>
              <a:buClr>
                <a:schemeClr val="tx1"/>
              </a:buClr>
              <a:buSzPct val="96000"/>
              <a:buFont typeface="Wingdings" panose="05000000000000000000" pitchFamily="2" charset="2"/>
              <a:buChar char="Ø"/>
            </a:pPr>
            <a:r>
              <a:rPr lang="en-US" b="1" dirty="0"/>
              <a:t>2) Project Overview</a:t>
            </a:r>
          </a:p>
          <a:p>
            <a:pPr>
              <a:buClr>
                <a:schemeClr val="tx1"/>
              </a:buClr>
              <a:buSzPct val="96000"/>
              <a:buFont typeface="Wingdings" panose="05000000000000000000" pitchFamily="2" charset="2"/>
              <a:buChar char="Ø"/>
            </a:pPr>
            <a:endParaRPr lang="en-US" b="1" dirty="0"/>
          </a:p>
          <a:p>
            <a:pPr>
              <a:buClr>
                <a:schemeClr val="tx1"/>
              </a:buClr>
              <a:buSzPct val="96000"/>
              <a:buFont typeface="Wingdings" panose="05000000000000000000" pitchFamily="2" charset="2"/>
              <a:buChar char="Ø"/>
            </a:pPr>
            <a:r>
              <a:rPr lang="en-US" b="1" dirty="0"/>
              <a:t>3) Data Analysis Steps</a:t>
            </a:r>
          </a:p>
          <a:p>
            <a:pPr>
              <a:buClr>
                <a:schemeClr val="tx1"/>
              </a:buClr>
              <a:buSzPct val="96000"/>
              <a:buFont typeface="Wingdings" panose="05000000000000000000" pitchFamily="2" charset="2"/>
              <a:buChar char="Ø"/>
            </a:pPr>
            <a:endParaRPr lang="en-US" b="1" dirty="0"/>
          </a:p>
          <a:p>
            <a:pPr>
              <a:buClr>
                <a:schemeClr val="tx1"/>
              </a:buClr>
              <a:buSzPct val="96000"/>
              <a:buFont typeface="Wingdings" panose="05000000000000000000" pitchFamily="2" charset="2"/>
              <a:buChar char="Ø"/>
            </a:pPr>
            <a:r>
              <a:rPr lang="ar-EG" b="1" dirty="0"/>
              <a:t> </a:t>
            </a:r>
            <a:r>
              <a:rPr lang="en-US" b="1" dirty="0"/>
              <a:t>4) Collecting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36E9D8-7101-4F38-B7D7-7BCB3D41BD75}"/>
              </a:ext>
            </a:extLst>
          </p:cNvPr>
          <p:cNvSpPr txBox="1"/>
          <p:nvPr/>
        </p:nvSpPr>
        <p:spPr>
          <a:xfrm>
            <a:off x="3939252" y="1523857"/>
            <a:ext cx="697698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5) Cleaning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6) Modeling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7) Feature Engineering (Dax)</a:t>
            </a:r>
          </a:p>
          <a:p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8) Sample Visuals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9) Visualization Reports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10) Visualization Dashboard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6E5EB-9182-4C0A-9C4E-737CAB47CD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14338" y="5353216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085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6970F-3D7E-4175-872D-6EA49842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905" y="736848"/>
            <a:ext cx="8759097" cy="1193552"/>
          </a:xfrm>
        </p:spPr>
        <p:txBody>
          <a:bodyPr/>
          <a:lstStyle/>
          <a:p>
            <a:r>
              <a:rPr lang="en-US" dirty="0"/>
              <a:t> 1)Team Members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79F42-F17A-4813-856A-F2634A8DB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193312" y="31066"/>
            <a:ext cx="3048006" cy="304800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4C49E-9E9B-4DC0-9E73-295E81156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904" y="1580027"/>
            <a:ext cx="8759097" cy="358586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Abram sobhy bekhit </a:t>
            </a:r>
            <a:br>
              <a:rPr lang="en-US" dirty="0"/>
            </a:br>
            <a:endParaRPr lang="ar-E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Osama Khalil Abdel Fadil </a:t>
            </a:r>
            <a:br>
              <a:rPr lang="en-US" dirty="0"/>
            </a:br>
            <a:endParaRPr lang="ar-E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Youssef Basher El-Sayed</a:t>
            </a:r>
            <a:br>
              <a:rPr lang="en-US" dirty="0"/>
            </a:br>
            <a:endParaRPr lang="ar-E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Fady Milad Sadeq</a:t>
            </a:r>
            <a:br>
              <a:rPr lang="en-US" dirty="0"/>
            </a:br>
            <a:endParaRPr lang="ar-E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Jana Ehab Mohamed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7FA4A-E2F5-4757-9A21-8E0B77E9D9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14338" y="5353216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038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B02B-778F-4B07-B03D-81F15786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2)Project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259D-1C98-40BC-9D9A-1ABA01224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25" y="1488613"/>
            <a:ext cx="8596668" cy="388077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This project focuses on </a:t>
            </a:r>
            <a:r>
              <a:rPr lang="en-US" b="1" dirty="0"/>
              <a:t>analyzing</a:t>
            </a:r>
            <a:r>
              <a:rPr lang="en-US" dirty="0"/>
              <a:t> manufacturing production data to </a:t>
            </a:r>
            <a:r>
              <a:rPr lang="en-US" b="1" dirty="0"/>
              <a:t>understand</a:t>
            </a:r>
            <a:r>
              <a:rPr lang="en-US" dirty="0"/>
              <a:t> and </a:t>
            </a:r>
            <a:r>
              <a:rPr lang="en-US" b="1" dirty="0"/>
              <a:t>reduce</a:t>
            </a:r>
            <a:r>
              <a:rPr lang="en-US" dirty="0"/>
              <a:t> production downtime. Downtime refers to the periods when the production line stops due to various operational issues such as machine failures, operator errors, inventory shortages, or process adjustments.</a:t>
            </a:r>
          </a:p>
          <a:p>
            <a:r>
              <a:rPr lang="en-US" dirty="0"/>
              <a:t>The </a:t>
            </a:r>
            <a:r>
              <a:rPr lang="en-US" b="1" dirty="0"/>
              <a:t>dataset contains </a:t>
            </a:r>
            <a:r>
              <a:rPr lang="en-US" dirty="0"/>
              <a:t>information about production batches, operators, production start and end times, product details, and the factors that caused downtime during the production process.</a:t>
            </a:r>
          </a:p>
          <a:p>
            <a:r>
              <a:rPr lang="en-US" dirty="0"/>
              <a:t>Using Power BI, the </a:t>
            </a:r>
            <a:r>
              <a:rPr lang="en-US" b="1" dirty="0"/>
              <a:t>goal</a:t>
            </a:r>
            <a:r>
              <a:rPr lang="en-US" dirty="0"/>
              <a:t> of this project is to clean, transform, and model the data in order to build interactive dashboards that help identify the </a:t>
            </a:r>
            <a:r>
              <a:rPr lang="en-US" b="1" dirty="0"/>
              <a:t>main causes of downtime</a:t>
            </a:r>
            <a:r>
              <a:rPr lang="en-US" dirty="0"/>
              <a:t>, </a:t>
            </a:r>
            <a:r>
              <a:rPr lang="en-US" b="1" dirty="0"/>
              <a:t>measure production efficiency</a:t>
            </a:r>
            <a:r>
              <a:rPr lang="en-US" dirty="0"/>
              <a:t>, and support </a:t>
            </a:r>
            <a:r>
              <a:rPr lang="en-US" b="1" dirty="0"/>
              <a:t>better operational decisions.</a:t>
            </a:r>
          </a:p>
          <a:p>
            <a:r>
              <a:rPr lang="en-US" b="1" dirty="0"/>
              <a:t>By analyzing</a:t>
            </a:r>
            <a:r>
              <a:rPr lang="en-US" dirty="0"/>
              <a:t> this data, we can </a:t>
            </a:r>
            <a:r>
              <a:rPr lang="en-US" b="1" dirty="0"/>
              <a:t>discover patterns in production interruptions</a:t>
            </a:r>
            <a:r>
              <a:rPr lang="en-US" dirty="0"/>
              <a:t>, determine the </a:t>
            </a:r>
            <a:r>
              <a:rPr lang="en-US" b="1" dirty="0"/>
              <a:t>most frequent downtime factors</a:t>
            </a:r>
            <a:r>
              <a:rPr lang="en-US" dirty="0"/>
              <a:t>, </a:t>
            </a:r>
            <a:r>
              <a:rPr lang="en-US" b="1" dirty="0"/>
              <a:t>evaluate operator-related issues</a:t>
            </a:r>
            <a:r>
              <a:rPr lang="en-US" dirty="0"/>
              <a:t>, and </a:t>
            </a:r>
            <a:r>
              <a:rPr lang="en-US" b="1" dirty="0"/>
              <a:t>identify opportunities to improve production performance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63DADF-737B-4500-B3F2-E8BE230E492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14338" y="5353216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250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42D24-1F72-4C3E-9DD6-B2D5B260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3)Data Analysis Steps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36E9D8-7101-4F38-B7D7-7BCB3D41BD75}"/>
              </a:ext>
            </a:extLst>
          </p:cNvPr>
          <p:cNvSpPr txBox="1"/>
          <p:nvPr/>
        </p:nvSpPr>
        <p:spPr>
          <a:xfrm>
            <a:off x="677334" y="1686378"/>
            <a:ext cx="840067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1) Collecting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2) Cleaning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3) Modeling 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4) Sample Visual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5) Reports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6) Dax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en-US" sz="2400" b="1" dirty="0"/>
              <a:t>7) Dashboard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572D2-CE9F-4AF3-8344-0740ECB071C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14338" y="5353216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838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7A2F7-7CC9-4528-BA85-2875F021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4)Collecting Data (Source)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48126-D2E5-4685-8FC9-4369F53B52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87990"/>
            <a:ext cx="8793235" cy="2474963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dirty="0"/>
              <a:t>We collected data from </a:t>
            </a:r>
            <a:r>
              <a:rPr lang="en-US" b="1" dirty="0"/>
              <a:t>DEPI.</a:t>
            </a:r>
          </a:p>
          <a:p>
            <a:pPr>
              <a:buFont typeface="+mj-lt"/>
              <a:buAutoNum type="arabicPeriod"/>
            </a:pPr>
            <a:r>
              <a:rPr lang="en-US" dirty="0"/>
              <a:t>This </a:t>
            </a:r>
            <a:r>
              <a:rPr lang="en-US" b="1" dirty="0"/>
              <a:t>data allows us to </a:t>
            </a:r>
            <a:r>
              <a:rPr lang="en-US" dirty="0"/>
              <a:t>perform proper data cleaning, including </a:t>
            </a:r>
            <a:r>
              <a:rPr lang="en-US" b="1" dirty="0"/>
              <a:t>handling missing values</a:t>
            </a:r>
            <a:r>
              <a:rPr lang="en-US" dirty="0"/>
              <a:t>, correcting names, </a:t>
            </a:r>
            <a:r>
              <a:rPr lang="en-US" b="1" dirty="0"/>
              <a:t>detecting inconsistencies</a:t>
            </a:r>
            <a:r>
              <a:rPr lang="en-US" dirty="0"/>
              <a:t>, calculating durations</a:t>
            </a:r>
            <a:r>
              <a:rPr lang="en-US" b="1" dirty="0"/>
              <a:t>, identifying outliers</a:t>
            </a:r>
            <a:r>
              <a:rPr lang="en-US" dirty="0"/>
              <a:t>, and validating ranges.</a:t>
            </a:r>
          </a:p>
          <a:p>
            <a:pPr>
              <a:buFont typeface="+mj-lt"/>
              <a:buAutoNum type="arabicPeriod"/>
            </a:pPr>
            <a:r>
              <a:rPr lang="en-US" dirty="0"/>
              <a:t>The goal is to ensure high-quality, consistent data for reliable analysis.</a:t>
            </a:r>
          </a:p>
          <a:p>
            <a:pPr>
              <a:buFont typeface="+mj-lt"/>
              <a:buAutoNum type="arabicPeriod"/>
            </a:pPr>
            <a:r>
              <a:rPr lang="en-US" dirty="0"/>
              <a:t>Ultimately, this supports data-driven decisions to improve machine productivity.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7F65D-79B8-4898-BC81-5AEC50599A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14338" y="5353216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39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10FD-1287-4D8B-8B37-18AFB12B1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5)Data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FF2EF-4037-4458-9A94-85B33DD7D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659" y="1393792"/>
            <a:ext cx="9212390" cy="3231473"/>
          </a:xfrm>
        </p:spPr>
        <p:txBody>
          <a:bodyPr>
            <a:normAutofit/>
          </a:bodyPr>
          <a:lstStyle/>
          <a:p>
            <a:r>
              <a:rPr lang="en-US" dirty="0"/>
              <a:t>Cleaning steps:</a:t>
            </a:r>
          </a:p>
          <a:p>
            <a:r>
              <a:rPr lang="en-US" dirty="0"/>
              <a:t>1/we Appropriate columns data types to avoid any errors</a:t>
            </a:r>
          </a:p>
          <a:p>
            <a:r>
              <a:rPr lang="en-US" dirty="0"/>
              <a:t>2/from filter we unselect null values from end time column</a:t>
            </a:r>
          </a:p>
          <a:p>
            <a:r>
              <a:rPr lang="en-US" dirty="0"/>
              <a:t>3/we replace blank values in operator column with unknown</a:t>
            </a:r>
          </a:p>
          <a:p>
            <a:r>
              <a:rPr lang="en-US" dirty="0"/>
              <a:t>4/we transform table downtime to "unpivot shape" to be clear in visualization</a:t>
            </a:r>
          </a:p>
          <a:p>
            <a:r>
              <a:rPr lang="en-US" dirty="0"/>
              <a:t>5/we transform values in product column with standard name to each product </a:t>
            </a:r>
          </a:p>
          <a:p>
            <a:r>
              <a:rPr lang="en-US" dirty="0"/>
              <a:t>6/Remove Duplicate Rows from Downtime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873EBE-97C6-48B8-A88F-8185FE33C3E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104911" y="5296655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015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1B76D-13DB-4631-A32E-F55CFBD66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54" y="0"/>
            <a:ext cx="1557866" cy="538480"/>
          </a:xfrm>
        </p:spPr>
        <p:txBody>
          <a:bodyPr>
            <a:normAutofit fontScale="90000"/>
          </a:bodyPr>
          <a:lstStyle/>
          <a:p>
            <a:r>
              <a:rPr lang="en-US" dirty="0"/>
              <a:t>Before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A38316-6BB8-4E9B-B154-EC3803D61B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557" y="538480"/>
            <a:ext cx="11529310" cy="6140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6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1B76D-13DB-4631-A32E-F55CFBD66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3" y="154013"/>
            <a:ext cx="1557866" cy="467360"/>
          </a:xfrm>
        </p:spPr>
        <p:txBody>
          <a:bodyPr>
            <a:normAutofit fontScale="90000"/>
          </a:bodyPr>
          <a:lstStyle/>
          <a:p>
            <a:r>
              <a:rPr lang="en-US" dirty="0"/>
              <a:t>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329792-64B8-42E4-97A9-6F6BF8B1E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713" y="743984"/>
            <a:ext cx="11830574" cy="5837454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C438A7-0166-4B95-8B3B-A2E8D2D7260E}"/>
              </a:ext>
            </a:extLst>
          </p:cNvPr>
          <p:cNvSpPr/>
          <p:nvPr/>
        </p:nvSpPr>
        <p:spPr>
          <a:xfrm>
            <a:off x="9879291" y="2978871"/>
            <a:ext cx="1923068" cy="1847654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B38B3-4304-4FC6-8C20-6DE7F733DF72}"/>
              </a:ext>
            </a:extLst>
          </p:cNvPr>
          <p:cNvSpPr/>
          <p:nvPr/>
        </p:nvSpPr>
        <p:spPr>
          <a:xfrm>
            <a:off x="350363" y="621373"/>
            <a:ext cx="9085868" cy="1847654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909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B9884-458B-49A2-9057-5BA2E985F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64" y="133634"/>
            <a:ext cx="3731844" cy="664346"/>
          </a:xfrm>
        </p:spPr>
        <p:txBody>
          <a:bodyPr>
            <a:normAutofit/>
          </a:bodyPr>
          <a:lstStyle/>
          <a:p>
            <a:r>
              <a:rPr lang="en-US" dirty="0"/>
              <a:t>6)Data Modeling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9FA4B4-8850-4DAE-B62D-36E7DC431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87" y="797980"/>
            <a:ext cx="11767449" cy="578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067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"/>
          <p:cNvSpPr txBox="1">
            <a:spLocks noGrp="1"/>
          </p:cNvSpPr>
          <p:nvPr>
            <p:ph type="title"/>
          </p:nvPr>
        </p:nvSpPr>
        <p:spPr>
          <a:xfrm>
            <a:off x="838200" y="1073150"/>
            <a:ext cx="3690257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000" dirty="0"/>
              <a:t>1.Bar Chart</a:t>
            </a:r>
            <a:endParaRPr dirty="0"/>
          </a:p>
        </p:txBody>
      </p:sp>
      <p:sp>
        <p:nvSpPr>
          <p:cNvPr id="171" name="Google Shape;171;p9"/>
          <p:cNvSpPr txBox="1">
            <a:spLocks noGrp="1"/>
          </p:cNvSpPr>
          <p:nvPr>
            <p:ph type="body" idx="1"/>
          </p:nvPr>
        </p:nvSpPr>
        <p:spPr>
          <a:xfrm>
            <a:off x="838200" y="2627312"/>
            <a:ext cx="5181600" cy="274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/>
              <a:t>The classic Bar Chart uses horizontal or vertical bars.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>
                <a:solidFill>
                  <a:schemeClr val="dk1"/>
                </a:solidFill>
              </a:rPr>
              <a:t>C</a:t>
            </a:r>
            <a:r>
              <a:rPr lang="en-US"/>
              <a:t>olumns to show discrete, numerical comparisons across categories.</a:t>
            </a:r>
            <a:endParaRPr/>
          </a:p>
        </p:txBody>
      </p:sp>
      <p:sp>
        <p:nvSpPr>
          <p:cNvPr id="172" name="Google Shape;1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173" name="Google Shape;17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8190" y="675983"/>
            <a:ext cx="5181600" cy="2281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99345" y="3127147"/>
            <a:ext cx="4659290" cy="251253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D819879-8800-4BF9-BE6E-8730BC9F05F6}"/>
              </a:ext>
            </a:extLst>
          </p:cNvPr>
          <p:cNvSpPr txBox="1">
            <a:spLocks/>
          </p:cNvSpPr>
          <p:nvPr/>
        </p:nvSpPr>
        <p:spPr>
          <a:xfrm>
            <a:off x="278264" y="133634"/>
            <a:ext cx="3731844" cy="664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6)Sample Visuals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0"/>
          <p:cNvSpPr txBox="1">
            <a:spLocks noGrp="1"/>
          </p:cNvSpPr>
          <p:nvPr>
            <p:ph type="title"/>
          </p:nvPr>
        </p:nvSpPr>
        <p:spPr>
          <a:xfrm>
            <a:off x="838200" y="1241122"/>
            <a:ext cx="5257800" cy="1157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000" dirty="0"/>
              <a:t>2.Pie &amp; Donut Charts</a:t>
            </a:r>
            <a:endParaRPr dirty="0"/>
          </a:p>
        </p:txBody>
      </p:sp>
      <p:sp>
        <p:nvSpPr>
          <p:cNvPr id="259" name="Google Shape;259;p20"/>
          <p:cNvSpPr txBox="1">
            <a:spLocks noGrp="1"/>
          </p:cNvSpPr>
          <p:nvPr>
            <p:ph type="body" idx="1"/>
          </p:nvPr>
        </p:nvSpPr>
        <p:spPr>
          <a:xfrm>
            <a:off x="1333000" y="2154283"/>
            <a:ext cx="10234160" cy="1409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dirty="0"/>
              <a:t>Pie &amp; donut charts are ideal for giving the reader a quick idea of the proportional distribution of the data.</a:t>
            </a:r>
            <a:endParaRPr dirty="0"/>
          </a:p>
        </p:txBody>
      </p:sp>
      <p:sp>
        <p:nvSpPr>
          <p:cNvPr id="260" name="Google Shape;26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261" name="Google Shape;261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74722" y="3564255"/>
            <a:ext cx="2350088" cy="2366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67191" y="3417628"/>
            <a:ext cx="2596832" cy="2545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9"/>
          <p:cNvSpPr txBox="1">
            <a:spLocks noGrp="1"/>
          </p:cNvSpPr>
          <p:nvPr>
            <p:ph type="title"/>
          </p:nvPr>
        </p:nvSpPr>
        <p:spPr>
          <a:xfrm>
            <a:off x="838200" y="1073150"/>
            <a:ext cx="3690257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000" dirty="0"/>
              <a:t>3.Line Chart</a:t>
            </a:r>
            <a:endParaRPr sz="4000" dirty="0"/>
          </a:p>
        </p:txBody>
      </p:sp>
      <p:sp>
        <p:nvSpPr>
          <p:cNvPr id="251" name="Google Shape;251;p19"/>
          <p:cNvSpPr txBox="1">
            <a:spLocks noGrp="1"/>
          </p:cNvSpPr>
          <p:nvPr>
            <p:ph type="body" idx="1"/>
          </p:nvPr>
        </p:nvSpPr>
        <p:spPr>
          <a:xfrm>
            <a:off x="725714" y="2351406"/>
            <a:ext cx="5181600" cy="274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69498"/>
              <a:buChar char="•"/>
            </a:pPr>
            <a:r>
              <a:rPr lang="en-US"/>
              <a:t>Line Graphs display quantitative values over a continuous interval or time.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69498"/>
              <a:buChar char="•"/>
            </a:pPr>
            <a:r>
              <a:rPr lang="en-US"/>
              <a:t>A Line Graph is most frequently used to show trends and analyze how the data has changed over time.</a:t>
            </a:r>
            <a:endParaRPr/>
          </a:p>
        </p:txBody>
      </p:sp>
      <p:sp>
        <p:nvSpPr>
          <p:cNvPr id="252" name="Google Shape;25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253" name="Google Shape;253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7314" y="2158326"/>
            <a:ext cx="6171646" cy="33280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39"/>
          <p:cNvSpPr txBox="1">
            <a:spLocks noGrp="1"/>
          </p:cNvSpPr>
          <p:nvPr>
            <p:ph type="title"/>
          </p:nvPr>
        </p:nvSpPr>
        <p:spPr>
          <a:xfrm>
            <a:off x="838200" y="1073150"/>
            <a:ext cx="6593114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000" dirty="0"/>
              <a:t>4.Histogram</a:t>
            </a:r>
            <a:endParaRPr dirty="0"/>
          </a:p>
        </p:txBody>
      </p:sp>
      <p:sp>
        <p:nvSpPr>
          <p:cNvPr id="408" name="Google Shape;408;p39"/>
          <p:cNvSpPr txBox="1">
            <a:spLocks noGrp="1"/>
          </p:cNvSpPr>
          <p:nvPr>
            <p:ph type="body" idx="1"/>
          </p:nvPr>
        </p:nvSpPr>
        <p:spPr>
          <a:xfrm>
            <a:off x="527855" y="2398713"/>
            <a:ext cx="5181600" cy="3729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dirty="0"/>
              <a:t>A Histogram visualizes data distribution over a continuous interval or a certain time. </a:t>
            </a:r>
            <a:endParaRPr dirty="0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dirty="0"/>
              <a:t>Each bar in a histogram represents the tabulated frequency at each interval/bin.</a:t>
            </a:r>
            <a:endParaRPr dirty="0"/>
          </a:p>
        </p:txBody>
      </p:sp>
      <p:sp>
        <p:nvSpPr>
          <p:cNvPr id="409" name="Google Shape;409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410" name="Google Shape;410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47763" y="2468527"/>
            <a:ext cx="6544237" cy="28811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756B5-BC3A-4BAB-8776-1377E48DB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9083" y="117987"/>
            <a:ext cx="8962917" cy="521616"/>
          </a:xfrm>
        </p:spPr>
        <p:txBody>
          <a:bodyPr>
            <a:normAutofit fontScale="90000"/>
          </a:bodyPr>
          <a:lstStyle/>
          <a:p>
            <a:r>
              <a:rPr lang="en-US" dirty="0"/>
              <a:t>7)Feature Engineering(DAX)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9C61CD6-3077-4DD3-97F7-6C79362E5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820737"/>
            <a:ext cx="5772151" cy="248635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8AD5673-A1D0-4A04-9FA4-9552CACE0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88" y="820737"/>
            <a:ext cx="5297863" cy="2427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FBAD30-C171-4882-AB71-9E04F9D1854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14"/>
          <a:stretch/>
        </p:blipFill>
        <p:spPr>
          <a:xfrm>
            <a:off x="6124315" y="3429000"/>
            <a:ext cx="5743836" cy="24821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E74911-9F48-4174-8D0A-890CD873307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2"/>
          <a:stretch/>
        </p:blipFill>
        <p:spPr>
          <a:xfrm>
            <a:off x="474287" y="3429000"/>
            <a:ext cx="5297863" cy="24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84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9D47ED-806D-4D33-8DEA-494B912A660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03" t="234" r="2"/>
          <a:stretch/>
        </p:blipFill>
        <p:spPr>
          <a:xfrm>
            <a:off x="7943675" y="548749"/>
            <a:ext cx="2953506" cy="20436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91A214-1C5F-4A08-8764-3E93D2C95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44" y="548749"/>
            <a:ext cx="6670268" cy="40071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6AF5F2-77F6-4E34-84AB-1F4AB626D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400" y="2690485"/>
            <a:ext cx="5254057" cy="18653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B557D0-B05A-47EE-90FA-15C9038AE15F}"/>
              </a:ext>
            </a:extLst>
          </p:cNvPr>
          <p:cNvSpPr txBox="1"/>
          <p:nvPr/>
        </p:nvSpPr>
        <p:spPr>
          <a:xfrm>
            <a:off x="623740" y="4692192"/>
            <a:ext cx="113215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Columns</a:t>
            </a:r>
            <a:r>
              <a:rPr lang="en-US" dirty="0"/>
              <a:t> are calculated at the row level and return a value for each individual record.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Measures</a:t>
            </a:r>
            <a:r>
              <a:rPr lang="en-US" dirty="0"/>
              <a:t> are used for aggregations and calculations based on the current filter context.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Day Number</a:t>
            </a:r>
            <a:r>
              <a:rPr lang="en-US" dirty="0"/>
              <a:t> column is used to ensure correct chronological sorting of weekdays in visuals instead of alphabetical order. </a:t>
            </a:r>
          </a:p>
        </p:txBody>
      </p:sp>
    </p:spTree>
    <p:extLst>
      <p:ext uri="{BB962C8B-B14F-4D97-AF65-F5344CB8AC3E}">
        <p14:creationId xmlns:p14="http://schemas.microsoft.com/office/powerpoint/2010/main" val="3887656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313A8A4-98A8-4BDA-8D2B-F9AD44332C3B}"/>
              </a:ext>
            </a:extLst>
          </p:cNvPr>
          <p:cNvSpPr txBox="1"/>
          <p:nvPr/>
        </p:nvSpPr>
        <p:spPr>
          <a:xfrm>
            <a:off x="4764129" y="122433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DAX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BDBC36-B261-46A1-A819-B4891485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91" y="2376096"/>
            <a:ext cx="6149873" cy="13140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090072-946C-4E84-ABB2-369203CCF3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92" y="983954"/>
            <a:ext cx="6149873" cy="13140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C81A8B-9A2D-4F9A-8569-0A0A2FFFBA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92" y="3780897"/>
            <a:ext cx="6149873" cy="14274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E728BC-9636-4AE9-BFEB-BD7B7F49B603}"/>
              </a:ext>
            </a:extLst>
          </p:cNvPr>
          <p:cNvSpPr txBox="1"/>
          <p:nvPr/>
        </p:nvSpPr>
        <p:spPr>
          <a:xfrm>
            <a:off x="595459" y="51219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1) Measures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89422D-D290-407D-9342-22360C6A96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91" y="5299128"/>
            <a:ext cx="6149872" cy="48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324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48EC1C-888B-4F7F-9069-4A8F47C50BE5}"/>
              </a:ext>
            </a:extLst>
          </p:cNvPr>
          <p:cNvSpPr txBox="1"/>
          <p:nvPr/>
        </p:nvSpPr>
        <p:spPr>
          <a:xfrm>
            <a:off x="4547313" y="37695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09E84-5CC5-4684-92B0-142E6A7C53A9}"/>
              </a:ext>
            </a:extLst>
          </p:cNvPr>
          <p:cNvSpPr txBox="1"/>
          <p:nvPr/>
        </p:nvSpPr>
        <p:spPr>
          <a:xfrm>
            <a:off x="340935" y="86589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2) Columns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258E98-5249-40C1-9C14-67C8D1E23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36" y="1609363"/>
            <a:ext cx="11935804" cy="18196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38D6D2-A62D-48E7-84F0-D760C35447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259" y="3598379"/>
            <a:ext cx="11915481" cy="2164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697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9683C52-4E8F-4CDD-BE0F-1AD59F3D93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97" y="3513842"/>
            <a:ext cx="11935803" cy="19929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E9B531-0979-463F-B2F3-ED8BC44076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98" y="1508171"/>
            <a:ext cx="11935803" cy="18359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8FA0197-4641-4F00-8188-45723B0B5430}"/>
              </a:ext>
            </a:extLst>
          </p:cNvPr>
          <p:cNvSpPr txBox="1"/>
          <p:nvPr/>
        </p:nvSpPr>
        <p:spPr>
          <a:xfrm>
            <a:off x="4547313" y="37695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BF15AC-E616-4022-AFB2-F99377347E5B}"/>
              </a:ext>
            </a:extLst>
          </p:cNvPr>
          <p:cNvSpPr txBox="1"/>
          <p:nvPr/>
        </p:nvSpPr>
        <p:spPr>
          <a:xfrm>
            <a:off x="340935" y="86589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2) Columns</a:t>
            </a:r>
          </a:p>
        </p:txBody>
      </p:sp>
    </p:spTree>
    <p:extLst>
      <p:ext uri="{BB962C8B-B14F-4D97-AF65-F5344CB8AC3E}">
        <p14:creationId xmlns:p14="http://schemas.microsoft.com/office/powerpoint/2010/main" val="211758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6FEA0-26BA-4330-9D59-A2EBE184AC60}"/>
              </a:ext>
            </a:extLst>
          </p:cNvPr>
          <p:cNvSpPr txBox="1"/>
          <p:nvPr/>
        </p:nvSpPr>
        <p:spPr>
          <a:xfrm>
            <a:off x="4547313" y="37695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84ABF-A971-46B3-8572-4035C879792C}"/>
              </a:ext>
            </a:extLst>
          </p:cNvPr>
          <p:cNvSpPr txBox="1"/>
          <p:nvPr/>
        </p:nvSpPr>
        <p:spPr>
          <a:xfrm>
            <a:off x="340935" y="86589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2) Columns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47DB22-26A0-4EE0-B13F-D8812F31B5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113" y="1314025"/>
            <a:ext cx="11739062" cy="1838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9B91A7-CE66-4C10-806E-EB78F10A7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706" y="3231399"/>
            <a:ext cx="11739062" cy="29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755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7AF5DFD-D836-489A-B459-F02D34B52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63" y="133634"/>
            <a:ext cx="6669292" cy="664346"/>
          </a:xfrm>
        </p:spPr>
        <p:txBody>
          <a:bodyPr>
            <a:normAutofit fontScale="90000"/>
          </a:bodyPr>
          <a:lstStyle/>
          <a:p>
            <a:r>
              <a:rPr lang="en-US" dirty="0"/>
              <a:t>9)Visualization Power BI Reports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13EED4-AE05-45CE-BCF2-7264BC152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379" y="799872"/>
            <a:ext cx="9015241" cy="52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968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D73E69-AA2F-4B04-9C39-8B2078B89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7380" y="769389"/>
            <a:ext cx="9457240" cy="531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7023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6C0CDF-DCB4-4147-89F1-13AF0815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947" y="754148"/>
            <a:ext cx="8596105" cy="534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0153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2DD2AA1-2518-4A9C-A42B-A8C8F96FC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63" y="133634"/>
            <a:ext cx="5613489" cy="664346"/>
          </a:xfrm>
        </p:spPr>
        <p:txBody>
          <a:bodyPr>
            <a:normAutofit fontScale="90000"/>
          </a:bodyPr>
          <a:lstStyle/>
          <a:p>
            <a:r>
              <a:rPr lang="en-US" dirty="0"/>
              <a:t>10)Visualization Dashboard</a:t>
            </a:r>
          </a:p>
        </p:txBody>
      </p:sp>
    </p:spTree>
    <p:extLst>
      <p:ext uri="{BB962C8B-B14F-4D97-AF65-F5344CB8AC3E}">
        <p14:creationId xmlns:p14="http://schemas.microsoft.com/office/powerpoint/2010/main" val="3648067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E563-70A5-4B94-86D6-C7BD8325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25600" y="1288337"/>
            <a:ext cx="13329920" cy="3185120"/>
          </a:xfrm>
        </p:spPr>
        <p:txBody>
          <a:bodyPr>
            <a:noAutofit/>
          </a:bodyPr>
          <a:lstStyle/>
          <a:p>
            <a:pPr algn="ctr"/>
            <a:r>
              <a:rPr lang="en-US" sz="19300" dirty="0"/>
              <a:t>  </a:t>
            </a:r>
            <a:r>
              <a:rPr lang="en-US" sz="13400" dirty="0"/>
              <a:t>Thank You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48FDD2-6309-4E2A-AD29-2425D34553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6362" y="5558155"/>
            <a:ext cx="984956" cy="554038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DC1210-3D7F-467C-9E2E-0144A4B85D99}"/>
              </a:ext>
            </a:extLst>
          </p:cNvPr>
          <p:cNvSpPr txBox="1"/>
          <p:nvPr/>
        </p:nvSpPr>
        <p:spPr>
          <a:xfrm>
            <a:off x="1259558" y="5650508"/>
            <a:ext cx="25809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u="sng" dirty="0"/>
              <a:t>GitHub Link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7E9063-543C-4EAF-B434-27926E4A088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" r="3687"/>
          <a:stretch/>
        </p:blipFill>
        <p:spPr>
          <a:xfrm>
            <a:off x="24647" y="512050"/>
            <a:ext cx="2030230" cy="136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48936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868</TotalTime>
  <Words>635</Words>
  <Application>Microsoft Office PowerPoint</Application>
  <PresentationFormat>Widescreen</PresentationFormat>
  <Paragraphs>92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Trebuchet MS</vt:lpstr>
      <vt:lpstr>Wingdings</vt:lpstr>
      <vt:lpstr>Wingdings 3</vt:lpstr>
      <vt:lpstr>Facet</vt:lpstr>
      <vt:lpstr>Manufacturing Downtime  Analysis Project</vt:lpstr>
      <vt:lpstr>Agenda</vt:lpstr>
      <vt:lpstr> 1)Team Members</vt:lpstr>
      <vt:lpstr>2)Project Overview</vt:lpstr>
      <vt:lpstr>3)Data Analysis Steps</vt:lpstr>
      <vt:lpstr>4)Collecting Data (Source)</vt:lpstr>
      <vt:lpstr>5)Data Cleaning</vt:lpstr>
      <vt:lpstr>Before</vt:lpstr>
      <vt:lpstr>After</vt:lpstr>
      <vt:lpstr>6)Data Modeling </vt:lpstr>
      <vt:lpstr>1.Bar Chart</vt:lpstr>
      <vt:lpstr>2.Pie &amp; Donut Charts</vt:lpstr>
      <vt:lpstr>3.Line Chart</vt:lpstr>
      <vt:lpstr>4.Histogram</vt:lpstr>
      <vt:lpstr>7)Feature Engineering(DAX)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9)Visualization Power BI Reports</vt:lpstr>
      <vt:lpstr>PowerPoint Presentation</vt:lpstr>
      <vt:lpstr>PowerPoint Presentation</vt:lpstr>
      <vt:lpstr>10)Visualization Dashboard</vt:lpstr>
      <vt:lpstr>  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Manufacturing Downtime Project</dc:title>
  <dc:creator>youssefabdelgawad758@outlook.com</dc:creator>
  <cp:lastModifiedBy>يوسف بشير السيد عبداللطيف عبدالجواد</cp:lastModifiedBy>
  <cp:revision>54</cp:revision>
  <dcterms:created xsi:type="dcterms:W3CDTF">2026-03-08T21:28:05Z</dcterms:created>
  <dcterms:modified xsi:type="dcterms:W3CDTF">2026-04-24T22:58:45Z</dcterms:modified>
</cp:coreProperties>
</file>