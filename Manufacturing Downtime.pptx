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4" r:id="rId3"/>
    <p:sldId id="258" r:id="rId4"/>
    <p:sldId id="257" r:id="rId5"/>
    <p:sldId id="259" r:id="rId6"/>
    <p:sldId id="262" r:id="rId7"/>
    <p:sldId id="260" r:id="rId8"/>
    <p:sldId id="263" r:id="rId9"/>
    <p:sldId id="266" r:id="rId10"/>
    <p:sldId id="261" r:id="rId11"/>
    <p:sldId id="267" r:id="rId12"/>
    <p:sldId id="268" r:id="rId13"/>
    <p:sldId id="269" r:id="rId14"/>
    <p:sldId id="276" r:id="rId15"/>
    <p:sldId id="265"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snapToGrid="0">
      <p:cViewPr varScale="1">
        <p:scale>
          <a:sx n="81" d="100"/>
          <a:sy n="81" d="100"/>
        </p:scale>
        <p:origin x="907"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E81352-D430-45BD-9ADF-9D376B8936B2}"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2215118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E81352-D430-45BD-9ADF-9D376B8936B2}"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3578229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E81352-D430-45BD-9ADF-9D376B8936B2}"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3835087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E81352-D430-45BD-9ADF-9D376B8936B2}" type="datetimeFigureOut">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1444058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E81352-D430-45BD-9ADF-9D376B8936B2}" type="datetimeFigureOut">
              <a:rPr lang="en-US" smtClean="0"/>
              <a:t>4/6/2026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14404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E81352-D430-45BD-9ADF-9D376B8936B2}" type="datetimeFigureOut">
              <a:rPr lang="en-US" smtClean="0"/>
              <a:t>4/6/2026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2355078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E81352-D430-45BD-9ADF-9D376B8936B2}" type="datetimeFigureOut">
              <a:rPr lang="en-US" smtClean="0"/>
              <a:t>4/6/2026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332531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E81352-D430-45BD-9ADF-9D376B8936B2}" type="datetimeFigureOut">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3665245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E81352-D430-45BD-9ADF-9D376B8936B2}" type="datetimeFigureOut">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1485472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E81352-D430-45BD-9ADF-9D376B8936B2}"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395785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E81352-D430-45BD-9ADF-9D376B8936B2}"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0490195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E81352-D430-45BD-9ADF-9D376B8936B2}"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28254720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E81352-D430-45BD-9ADF-9D376B8936B2}"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161351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E81352-D430-45BD-9ADF-9D376B8936B2}"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1163224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E81352-D430-45BD-9ADF-9D376B8936B2}"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16922132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E81352-D430-45BD-9ADF-9D376B8936B2}"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3373534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0E81352-D430-45BD-9ADF-9D376B8936B2}" type="datetimeFigureOut">
              <a:rPr lang="en-US" smtClean="0"/>
              <a:t>4/6/2026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3E8C58A-5032-49BF-9B63-82D0508B5EF7}" type="slidenum">
              <a:rPr lang="en-US" smtClean="0"/>
              <a:t>‹#›</a:t>
            </a:fld>
            <a:endParaRPr lang="en-US"/>
          </a:p>
        </p:txBody>
      </p:sp>
    </p:spTree>
    <p:extLst>
      <p:ext uri="{BB962C8B-B14F-4D97-AF65-F5344CB8AC3E}">
        <p14:creationId xmlns:p14="http://schemas.microsoft.com/office/powerpoint/2010/main" val="1409850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freepngimg.com/png/18831-team-png-pic"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lthub.ubc.ca/guides/github-instructor-guide/" TargetMode="External"/><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DB302-4E04-4584-A654-652459DF90E2}"/>
              </a:ext>
            </a:extLst>
          </p:cNvPr>
          <p:cNvSpPr>
            <a:spLocks noGrp="1"/>
          </p:cNvSpPr>
          <p:nvPr>
            <p:ph type="ctrTitle"/>
          </p:nvPr>
        </p:nvSpPr>
        <p:spPr>
          <a:xfrm>
            <a:off x="1129453" y="2079414"/>
            <a:ext cx="8522163" cy="1646302"/>
          </a:xfrm>
        </p:spPr>
        <p:txBody>
          <a:bodyPr/>
          <a:lstStyle/>
          <a:p>
            <a:pPr algn="ctr"/>
            <a:r>
              <a:rPr lang="en-US" dirty="0"/>
              <a:t>Manufacturing Downtime</a:t>
            </a:r>
            <a:br>
              <a:rPr lang="ar-EG" dirty="0"/>
            </a:br>
            <a:r>
              <a:rPr lang="en-US" dirty="0"/>
              <a:t> Analysis Project</a:t>
            </a:r>
          </a:p>
        </p:txBody>
      </p:sp>
      <p:sp>
        <p:nvSpPr>
          <p:cNvPr id="3" name="Subtitle 2">
            <a:extLst>
              <a:ext uri="{FF2B5EF4-FFF2-40B4-BE49-F238E27FC236}">
                <a16:creationId xmlns:a16="http://schemas.microsoft.com/office/drawing/2014/main" id="{9263E988-832A-4181-9B8E-210A2310F8AB}"/>
              </a:ext>
            </a:extLst>
          </p:cNvPr>
          <p:cNvSpPr>
            <a:spLocks noGrp="1"/>
          </p:cNvSpPr>
          <p:nvPr>
            <p:ph type="subTitle" idx="1"/>
          </p:nvPr>
        </p:nvSpPr>
        <p:spPr/>
        <p:txBody>
          <a:bodyPr/>
          <a:lstStyle/>
          <a:p>
            <a:pPr algn="ctr"/>
            <a:r>
              <a:rPr lang="en-US" dirty="0"/>
              <a:t>DEPI_4 Data Analysis Power Bi</a:t>
            </a:r>
          </a:p>
        </p:txBody>
      </p:sp>
      <p:pic>
        <p:nvPicPr>
          <p:cNvPr id="5" name="Picture 4">
            <a:extLst>
              <a:ext uri="{FF2B5EF4-FFF2-40B4-BE49-F238E27FC236}">
                <a16:creationId xmlns:a16="http://schemas.microsoft.com/office/drawing/2014/main" id="{AD71EBA1-BF2D-4073-9A03-AF77EA181B36}"/>
              </a:ext>
            </a:extLst>
          </p:cNvPr>
          <p:cNvPicPr>
            <a:picLocks noChangeAspect="1"/>
          </p:cNvPicPr>
          <p:nvPr/>
        </p:nvPicPr>
        <p:blipFill rotWithShape="1">
          <a:blip r:embed="rId2">
            <a:extLst>
              <a:ext uri="{28A0092B-C50C-407E-A947-70E740481C1C}">
                <a14:useLocalDpi xmlns:a14="http://schemas.microsoft.com/office/drawing/2010/main" val="0"/>
              </a:ext>
            </a:extLst>
          </a:blip>
          <a:srcRect l="2682" r="3687"/>
          <a:stretch/>
        </p:blipFill>
        <p:spPr>
          <a:xfrm>
            <a:off x="114338" y="5353216"/>
            <a:ext cx="2030230" cy="1367868"/>
          </a:xfrm>
          <a:prstGeom prst="rect">
            <a:avLst/>
          </a:prstGeom>
        </p:spPr>
      </p:pic>
    </p:spTree>
    <p:extLst>
      <p:ext uri="{BB962C8B-B14F-4D97-AF65-F5344CB8AC3E}">
        <p14:creationId xmlns:p14="http://schemas.microsoft.com/office/powerpoint/2010/main" val="2503103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42D24-1F72-4C3E-9DD6-B2D5B260F275}"/>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52279EB6-DD3A-477E-9423-9E0A6543255B}"/>
              </a:ext>
            </a:extLst>
          </p:cNvPr>
          <p:cNvSpPr>
            <a:spLocks noGrp="1"/>
          </p:cNvSpPr>
          <p:nvPr>
            <p:ph idx="1"/>
          </p:nvPr>
        </p:nvSpPr>
        <p:spPr>
          <a:xfrm>
            <a:off x="677334" y="1613402"/>
            <a:ext cx="3356186" cy="3880773"/>
          </a:xfrm>
        </p:spPr>
        <p:txBody>
          <a:bodyPr/>
          <a:lstStyle/>
          <a:p>
            <a:pPr>
              <a:buFont typeface="Wingdings" panose="05000000000000000000" pitchFamily="2" charset="2"/>
              <a:buChar char="Ø"/>
            </a:pPr>
            <a:r>
              <a:rPr lang="en-US" b="1" dirty="0"/>
              <a:t>1)</a:t>
            </a:r>
            <a:r>
              <a:rPr lang="en-US" dirty="0"/>
              <a:t> </a:t>
            </a:r>
            <a:r>
              <a:rPr lang="en-US" b="1" dirty="0"/>
              <a:t>Team Members                       </a:t>
            </a:r>
          </a:p>
          <a:p>
            <a:pPr>
              <a:buFont typeface="Wingdings" panose="05000000000000000000" pitchFamily="2" charset="2"/>
              <a:buChar char="Ø"/>
            </a:pPr>
            <a:endParaRPr lang="en-US" b="1" dirty="0"/>
          </a:p>
          <a:p>
            <a:pPr>
              <a:buFont typeface="Wingdings" panose="05000000000000000000" pitchFamily="2" charset="2"/>
              <a:buChar char="Ø"/>
            </a:pPr>
            <a:r>
              <a:rPr lang="en-US" b="1" dirty="0"/>
              <a:t>2) Project Overview</a:t>
            </a:r>
            <a:endParaRPr lang="ar-EG" b="1" dirty="0"/>
          </a:p>
          <a:p>
            <a:pPr>
              <a:buFont typeface="Wingdings" panose="05000000000000000000" pitchFamily="2" charset="2"/>
              <a:buChar char="Ø"/>
            </a:pPr>
            <a:endParaRPr lang="ar-EG" b="1" dirty="0"/>
          </a:p>
          <a:p>
            <a:pPr>
              <a:buFont typeface="Wingdings" panose="05000000000000000000" pitchFamily="2" charset="2"/>
              <a:buChar char="Ø"/>
            </a:pPr>
            <a:r>
              <a:rPr lang="en-US" b="1" dirty="0"/>
              <a:t>3) Data Analysis Steps</a:t>
            </a:r>
            <a:endParaRPr lang="ar-EG" b="1" dirty="0"/>
          </a:p>
          <a:p>
            <a:pPr>
              <a:buFont typeface="Wingdings" panose="05000000000000000000" pitchFamily="2" charset="2"/>
              <a:buChar char="Ø"/>
            </a:pPr>
            <a:endParaRPr lang="en-US" b="1" dirty="0"/>
          </a:p>
          <a:p>
            <a:pPr>
              <a:buFont typeface="Wingdings" panose="05000000000000000000" pitchFamily="2" charset="2"/>
              <a:buChar char="Ø"/>
            </a:pPr>
            <a:r>
              <a:rPr lang="ar-EG" b="1" dirty="0"/>
              <a:t> </a:t>
            </a:r>
            <a:r>
              <a:rPr lang="en-US" b="1" dirty="0"/>
              <a:t>4) Collecting Data</a:t>
            </a:r>
          </a:p>
        </p:txBody>
      </p:sp>
      <p:sp>
        <p:nvSpPr>
          <p:cNvPr id="4" name="TextBox 3">
            <a:extLst>
              <a:ext uri="{FF2B5EF4-FFF2-40B4-BE49-F238E27FC236}">
                <a16:creationId xmlns:a16="http://schemas.microsoft.com/office/drawing/2014/main" id="{5936E9D8-7101-4F38-B7D7-7BCB3D41BD75}"/>
              </a:ext>
            </a:extLst>
          </p:cNvPr>
          <p:cNvSpPr txBox="1"/>
          <p:nvPr/>
        </p:nvSpPr>
        <p:spPr>
          <a:xfrm>
            <a:off x="3939252" y="1523857"/>
            <a:ext cx="4709507" cy="3970318"/>
          </a:xfrm>
          <a:prstGeom prst="rect">
            <a:avLst/>
          </a:prstGeom>
          <a:noFill/>
        </p:spPr>
        <p:txBody>
          <a:bodyPr wrap="square" rtlCol="0">
            <a:spAutoFit/>
          </a:bodyPr>
          <a:lstStyle/>
          <a:p>
            <a:pPr marL="285750" indent="-285750">
              <a:buFont typeface="Wingdings" panose="05000000000000000000" pitchFamily="2" charset="2"/>
              <a:buChar char="Ø"/>
            </a:pPr>
            <a:r>
              <a:rPr lang="en-US" b="1" dirty="0"/>
              <a:t>5) Cleaning</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b="1" dirty="0"/>
              <a:t>6) Modeling</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b="1" dirty="0"/>
              <a:t>7)Feature Engineering</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b="1" dirty="0"/>
              <a:t>8) Visualization Reports</a:t>
            </a:r>
          </a:p>
          <a:p>
            <a:endParaRPr lang="en-US" b="1" dirty="0"/>
          </a:p>
          <a:p>
            <a:pPr marL="285750" indent="-285750">
              <a:buFont typeface="Wingdings" panose="05000000000000000000" pitchFamily="2" charset="2"/>
              <a:buChar char="Ø"/>
            </a:pPr>
            <a:r>
              <a:rPr lang="en-US" b="1" dirty="0"/>
              <a:t>9) Dax</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b="1" dirty="0"/>
              <a:t>10) Visualization Dashboard</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p:txBody>
      </p:sp>
    </p:spTree>
    <p:extLst>
      <p:ext uri="{BB962C8B-B14F-4D97-AF65-F5344CB8AC3E}">
        <p14:creationId xmlns:p14="http://schemas.microsoft.com/office/powerpoint/2010/main" val="1502085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6970F-3D7E-4175-872D-6EA498428A9A}"/>
              </a:ext>
            </a:extLst>
          </p:cNvPr>
          <p:cNvSpPr>
            <a:spLocks noGrp="1"/>
          </p:cNvSpPr>
          <p:nvPr>
            <p:ph type="title"/>
          </p:nvPr>
        </p:nvSpPr>
        <p:spPr>
          <a:xfrm>
            <a:off x="514905" y="736848"/>
            <a:ext cx="8759097" cy="1193552"/>
          </a:xfrm>
        </p:spPr>
        <p:txBody>
          <a:bodyPr/>
          <a:lstStyle/>
          <a:p>
            <a:r>
              <a:rPr lang="en-US" dirty="0"/>
              <a:t> Team Members</a:t>
            </a:r>
          </a:p>
        </p:txBody>
      </p:sp>
      <p:pic>
        <p:nvPicPr>
          <p:cNvPr id="5" name="Picture 4">
            <a:extLst>
              <a:ext uri="{FF2B5EF4-FFF2-40B4-BE49-F238E27FC236}">
                <a16:creationId xmlns:a16="http://schemas.microsoft.com/office/drawing/2014/main" id="{19A79F42-F17A-4813-856A-F2634A8DB6C8}"/>
              </a:ext>
            </a:extLst>
          </p:cNvPr>
          <p:cNvPicPr>
            <a:picLocks noChangeAspect="1"/>
          </p:cNvPicPr>
          <p:nvPr/>
        </p:nvPicPr>
        <p:blipFill>
          <a:blip r:embed="rId2">
            <a:alphaModFix amt="20000"/>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193312" y="31066"/>
            <a:ext cx="3048006" cy="3048006"/>
          </a:xfrm>
          <a:prstGeom prst="rect">
            <a:avLst/>
          </a:prstGeom>
        </p:spPr>
      </p:pic>
      <p:sp>
        <p:nvSpPr>
          <p:cNvPr id="3" name="Content Placeholder 2">
            <a:extLst>
              <a:ext uri="{FF2B5EF4-FFF2-40B4-BE49-F238E27FC236}">
                <a16:creationId xmlns:a16="http://schemas.microsoft.com/office/drawing/2014/main" id="{A2C4C49E-9E9B-4DC0-9E73-295E81156D2D}"/>
              </a:ext>
            </a:extLst>
          </p:cNvPr>
          <p:cNvSpPr>
            <a:spLocks noGrp="1"/>
          </p:cNvSpPr>
          <p:nvPr>
            <p:ph idx="1"/>
          </p:nvPr>
        </p:nvSpPr>
        <p:spPr>
          <a:xfrm>
            <a:off x="514905" y="2618913"/>
            <a:ext cx="8759097" cy="3422449"/>
          </a:xfrm>
        </p:spPr>
        <p:txBody>
          <a:bodyPr/>
          <a:lstStyle/>
          <a:p>
            <a:pPr>
              <a:buFont typeface="Arial" panose="020B0604020202020204" pitchFamily="34" charset="0"/>
              <a:buChar char="•"/>
            </a:pPr>
            <a:r>
              <a:rPr lang="en-US" dirty="0"/>
              <a:t>Abram </a:t>
            </a:r>
            <a:r>
              <a:rPr lang="en-US" dirty="0" err="1"/>
              <a:t>Sobhy</a:t>
            </a:r>
            <a:r>
              <a:rPr lang="en-US" dirty="0"/>
              <a:t> </a:t>
            </a:r>
            <a:r>
              <a:rPr lang="en-US" dirty="0" err="1"/>
              <a:t>Bekhit</a:t>
            </a:r>
            <a:br>
              <a:rPr lang="en-US" dirty="0"/>
            </a:br>
            <a:endParaRPr lang="ar-EG" dirty="0"/>
          </a:p>
          <a:p>
            <a:pPr>
              <a:buFont typeface="Arial" panose="020B0604020202020204" pitchFamily="34" charset="0"/>
              <a:buChar char="•"/>
            </a:pPr>
            <a:r>
              <a:rPr lang="en-US" dirty="0"/>
              <a:t>Osama Khalil Abdel </a:t>
            </a:r>
            <a:r>
              <a:rPr lang="en-US" dirty="0" err="1"/>
              <a:t>Fadil</a:t>
            </a:r>
            <a:br>
              <a:rPr lang="en-US" dirty="0"/>
            </a:br>
            <a:endParaRPr lang="ar-EG" dirty="0"/>
          </a:p>
          <a:p>
            <a:pPr>
              <a:buFont typeface="Arial" panose="020B0604020202020204" pitchFamily="34" charset="0"/>
              <a:buChar char="•"/>
            </a:pPr>
            <a:r>
              <a:rPr lang="en-US" dirty="0"/>
              <a:t>Youssef Basher El-Sayed</a:t>
            </a:r>
            <a:br>
              <a:rPr lang="en-US" dirty="0"/>
            </a:br>
            <a:endParaRPr lang="ar-EG" dirty="0"/>
          </a:p>
          <a:p>
            <a:pPr>
              <a:buFont typeface="Arial" panose="020B0604020202020204" pitchFamily="34" charset="0"/>
              <a:buChar char="•"/>
            </a:pPr>
            <a:r>
              <a:rPr lang="en-US" dirty="0"/>
              <a:t>Fady Milad Sadeq</a:t>
            </a:r>
            <a:br>
              <a:rPr lang="en-US" dirty="0"/>
            </a:br>
            <a:endParaRPr lang="ar-EG" dirty="0"/>
          </a:p>
          <a:p>
            <a:pPr>
              <a:buFont typeface="Arial" panose="020B0604020202020204" pitchFamily="34" charset="0"/>
              <a:buChar char="•"/>
            </a:pPr>
            <a:r>
              <a:rPr lang="en-US" dirty="0"/>
              <a:t>Jana Ehab Mohamed</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p:txBody>
      </p:sp>
    </p:spTree>
    <p:extLst>
      <p:ext uri="{BB962C8B-B14F-4D97-AF65-F5344CB8AC3E}">
        <p14:creationId xmlns:p14="http://schemas.microsoft.com/office/powerpoint/2010/main" val="1181038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EB02B-778F-4B07-B03D-81F157867E32}"/>
              </a:ext>
            </a:extLst>
          </p:cNvPr>
          <p:cNvSpPr>
            <a:spLocks noGrp="1"/>
          </p:cNvSpPr>
          <p:nvPr>
            <p:ph type="title"/>
          </p:nvPr>
        </p:nvSpPr>
        <p:spPr/>
        <p:txBody>
          <a:bodyPr/>
          <a:lstStyle/>
          <a:p>
            <a:r>
              <a:rPr lang="en-US" dirty="0"/>
              <a:t>Project Overview</a:t>
            </a:r>
          </a:p>
        </p:txBody>
      </p:sp>
      <p:sp>
        <p:nvSpPr>
          <p:cNvPr id="3" name="Content Placeholder 2">
            <a:extLst>
              <a:ext uri="{FF2B5EF4-FFF2-40B4-BE49-F238E27FC236}">
                <a16:creationId xmlns:a16="http://schemas.microsoft.com/office/drawing/2014/main" id="{BE2F259D-1C98-40BC-9D9A-1ABA0122462C}"/>
              </a:ext>
            </a:extLst>
          </p:cNvPr>
          <p:cNvSpPr>
            <a:spLocks noGrp="1"/>
          </p:cNvSpPr>
          <p:nvPr>
            <p:ph idx="1"/>
          </p:nvPr>
        </p:nvSpPr>
        <p:spPr/>
        <p:txBody>
          <a:bodyPr>
            <a:normAutofit fontScale="92500" lnSpcReduction="10000"/>
          </a:bodyPr>
          <a:lstStyle/>
          <a:p>
            <a:r>
              <a:rPr lang="en-US" dirty="0"/>
              <a:t>This project focuses on analyzing manufacturing production data to understand and reduce production downtime. Downtime refers to the periods when the production line stops due to various operational issues such as machine failures, operator errors, inventory shortages, or process adjustments.</a:t>
            </a:r>
          </a:p>
          <a:p>
            <a:r>
              <a:rPr lang="en-US" dirty="0"/>
              <a:t>The dataset contains information about production batches, operators, production start and end times, product details, and the factors that caused downtime during the production process.</a:t>
            </a:r>
          </a:p>
          <a:p>
            <a:r>
              <a:rPr lang="en-US" dirty="0"/>
              <a:t>Using Power BI, the goal of this project is to clean, transform, and model the data in order to build interactive dashboards that help identify the main causes of downtime, measure production efficiency, and support better operational decisions.</a:t>
            </a:r>
          </a:p>
          <a:p>
            <a:r>
              <a:rPr lang="en-US" dirty="0"/>
              <a:t>By analyzing this data, we can discover patterns in production interruptions, determine the most frequent downtime factors, evaluate operator-related issues, and identify opportunities to improve production performance.</a:t>
            </a:r>
          </a:p>
          <a:p>
            <a:endParaRPr lang="en-US" dirty="0"/>
          </a:p>
        </p:txBody>
      </p:sp>
    </p:spTree>
    <p:extLst>
      <p:ext uri="{BB962C8B-B14F-4D97-AF65-F5344CB8AC3E}">
        <p14:creationId xmlns:p14="http://schemas.microsoft.com/office/powerpoint/2010/main" val="2185250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42D24-1F72-4C3E-9DD6-B2D5B260F275}"/>
              </a:ext>
            </a:extLst>
          </p:cNvPr>
          <p:cNvSpPr>
            <a:spLocks noGrp="1"/>
          </p:cNvSpPr>
          <p:nvPr>
            <p:ph type="title"/>
          </p:nvPr>
        </p:nvSpPr>
        <p:spPr/>
        <p:txBody>
          <a:bodyPr/>
          <a:lstStyle/>
          <a:p>
            <a:r>
              <a:rPr lang="en-US" dirty="0"/>
              <a:t>Data Analysis Steps</a:t>
            </a:r>
          </a:p>
        </p:txBody>
      </p:sp>
      <p:sp>
        <p:nvSpPr>
          <p:cNvPr id="4" name="TextBox 3">
            <a:extLst>
              <a:ext uri="{FF2B5EF4-FFF2-40B4-BE49-F238E27FC236}">
                <a16:creationId xmlns:a16="http://schemas.microsoft.com/office/drawing/2014/main" id="{5936E9D8-7101-4F38-B7D7-7BCB3D41BD75}"/>
              </a:ext>
            </a:extLst>
          </p:cNvPr>
          <p:cNvSpPr txBox="1"/>
          <p:nvPr/>
        </p:nvSpPr>
        <p:spPr>
          <a:xfrm>
            <a:off x="677334" y="1706880"/>
            <a:ext cx="4981657" cy="3416320"/>
          </a:xfrm>
          <a:prstGeom prst="rect">
            <a:avLst/>
          </a:prstGeom>
          <a:noFill/>
        </p:spPr>
        <p:txBody>
          <a:bodyPr wrap="square" rtlCol="0">
            <a:spAutoFit/>
          </a:bodyPr>
          <a:lstStyle/>
          <a:p>
            <a:pPr marL="285750" indent="-285750">
              <a:buFont typeface="Wingdings" panose="05000000000000000000" pitchFamily="2" charset="2"/>
              <a:buChar char="Ø"/>
            </a:pPr>
            <a:r>
              <a:rPr lang="en-US" b="1" dirty="0"/>
              <a:t>1) Collecting Data</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b="1" dirty="0"/>
              <a:t>2) Cleaning</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b="1" dirty="0"/>
              <a:t>3) Modeling</a:t>
            </a:r>
          </a:p>
          <a:p>
            <a:endParaRPr lang="en-US" b="1" dirty="0"/>
          </a:p>
          <a:p>
            <a:pPr marL="285750" indent="-285750">
              <a:buFont typeface="Wingdings" panose="05000000000000000000" pitchFamily="2" charset="2"/>
              <a:buChar char="Ø"/>
            </a:pPr>
            <a:r>
              <a:rPr lang="en-US" b="1" dirty="0"/>
              <a:t>4) Dax Reports</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b="1" dirty="0"/>
              <a:t>5) Visualization Reports &amp; Dashboard</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p:txBody>
      </p:sp>
    </p:spTree>
    <p:extLst>
      <p:ext uri="{BB962C8B-B14F-4D97-AF65-F5344CB8AC3E}">
        <p14:creationId xmlns:p14="http://schemas.microsoft.com/office/powerpoint/2010/main" val="1530838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7A2F7-7CC9-4528-BA85-2875F0218DE9}"/>
              </a:ext>
            </a:extLst>
          </p:cNvPr>
          <p:cNvSpPr>
            <a:spLocks noGrp="1"/>
          </p:cNvSpPr>
          <p:nvPr>
            <p:ph type="title"/>
          </p:nvPr>
        </p:nvSpPr>
        <p:spPr/>
        <p:txBody>
          <a:bodyPr/>
          <a:lstStyle/>
          <a:p>
            <a:r>
              <a:rPr lang="en-US" dirty="0"/>
              <a:t>Collecting Extra Data</a:t>
            </a:r>
          </a:p>
        </p:txBody>
      </p:sp>
      <p:sp>
        <p:nvSpPr>
          <p:cNvPr id="3" name="Content Placeholder 2">
            <a:extLst>
              <a:ext uri="{FF2B5EF4-FFF2-40B4-BE49-F238E27FC236}">
                <a16:creationId xmlns:a16="http://schemas.microsoft.com/office/drawing/2014/main" id="{34048126-D2E5-4685-8FC9-4369F53B52A0}"/>
              </a:ext>
            </a:extLst>
          </p:cNvPr>
          <p:cNvSpPr>
            <a:spLocks noGrp="1"/>
          </p:cNvSpPr>
          <p:nvPr>
            <p:ph idx="1"/>
          </p:nvPr>
        </p:nvSpPr>
        <p:spPr>
          <a:xfrm>
            <a:off x="677334" y="1587990"/>
            <a:ext cx="8793235" cy="4660410"/>
          </a:xfrm>
        </p:spPr>
        <p:txBody>
          <a:bodyPr>
            <a:normAutofit/>
          </a:bodyPr>
          <a:lstStyle/>
          <a:p>
            <a:pPr>
              <a:buFont typeface="+mj-lt"/>
              <a:buAutoNum type="arabicPeriod"/>
            </a:pPr>
            <a:r>
              <a:rPr lang="en-US" dirty="0"/>
              <a:t>We collected extra data on </a:t>
            </a:r>
            <a:r>
              <a:rPr lang="en-US" b="1" dirty="0"/>
              <a:t>DEPI</a:t>
            </a:r>
            <a:r>
              <a:rPr lang="en-US" dirty="0"/>
              <a:t> data from </a:t>
            </a:r>
            <a:r>
              <a:rPr lang="en-US" b="1" dirty="0"/>
              <a:t>Kaggle</a:t>
            </a:r>
            <a:r>
              <a:rPr lang="en-US" dirty="0"/>
              <a:t> to have enough examples for accurate downtime analysis.</a:t>
            </a:r>
          </a:p>
          <a:p>
            <a:pPr>
              <a:buFont typeface="+mj-lt"/>
              <a:buAutoNum type="arabicPeriod"/>
            </a:pPr>
            <a:r>
              <a:rPr lang="en-US" dirty="0"/>
              <a:t>We searched for datasets containing common data quality issues like missing values, product naming errors, end &lt; start, batch duration calculation, outliers, downtime distribution, and factor ranges.</a:t>
            </a:r>
          </a:p>
          <a:p>
            <a:pPr>
              <a:buFont typeface="+mj-lt"/>
              <a:buAutoNum type="arabicPeriod"/>
            </a:pPr>
            <a:r>
              <a:rPr lang="en-US" dirty="0"/>
              <a:t>This allows us to perform proper data cleaning, including handling missing values, correcting names, detecting inconsistencies, calculating durations, identifying outliers, and validating ranges.</a:t>
            </a:r>
          </a:p>
          <a:p>
            <a:pPr>
              <a:buFont typeface="+mj-lt"/>
              <a:buAutoNum type="arabicPeriod"/>
            </a:pPr>
            <a:r>
              <a:rPr lang="en-US" dirty="0"/>
              <a:t>The goal is to ensure high-quality, consistent data for reliable analysis.</a:t>
            </a:r>
          </a:p>
          <a:p>
            <a:pPr>
              <a:buFont typeface="+mj-lt"/>
              <a:buAutoNum type="arabicPeriod"/>
            </a:pPr>
            <a:r>
              <a:rPr lang="en-US" dirty="0"/>
              <a:t>Ultimately, this supports data-driven decisions to improve machine productivity.</a:t>
            </a:r>
          </a:p>
          <a:p>
            <a:pPr marL="0" indent="0">
              <a:buNone/>
            </a:pPr>
            <a:endParaRPr lang="en-US" dirty="0"/>
          </a:p>
          <a:p>
            <a:endParaRPr lang="en-US" dirty="0"/>
          </a:p>
        </p:txBody>
      </p:sp>
    </p:spTree>
    <p:extLst>
      <p:ext uri="{BB962C8B-B14F-4D97-AF65-F5344CB8AC3E}">
        <p14:creationId xmlns:p14="http://schemas.microsoft.com/office/powerpoint/2010/main" val="4205393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210FD-1287-4D8B-8B37-18AFB12B18A8}"/>
              </a:ext>
            </a:extLst>
          </p:cNvPr>
          <p:cNvSpPr>
            <a:spLocks noGrp="1"/>
          </p:cNvSpPr>
          <p:nvPr>
            <p:ph type="title"/>
          </p:nvPr>
        </p:nvSpPr>
        <p:spPr/>
        <p:txBody>
          <a:bodyPr/>
          <a:lstStyle/>
          <a:p>
            <a:r>
              <a:rPr lang="en-US" dirty="0"/>
              <a:t>Cleaning</a:t>
            </a:r>
          </a:p>
        </p:txBody>
      </p:sp>
      <p:sp>
        <p:nvSpPr>
          <p:cNvPr id="3" name="Content Placeholder 2">
            <a:extLst>
              <a:ext uri="{FF2B5EF4-FFF2-40B4-BE49-F238E27FC236}">
                <a16:creationId xmlns:a16="http://schemas.microsoft.com/office/drawing/2014/main" id="{039FF2EF-4037-4458-9A94-85B33DD7DD71}"/>
              </a:ext>
            </a:extLst>
          </p:cNvPr>
          <p:cNvSpPr>
            <a:spLocks noGrp="1"/>
          </p:cNvSpPr>
          <p:nvPr>
            <p:ph idx="1"/>
          </p:nvPr>
        </p:nvSpPr>
        <p:spPr>
          <a:xfrm>
            <a:off x="508659" y="1393792"/>
            <a:ext cx="9212390" cy="3231473"/>
          </a:xfrm>
        </p:spPr>
        <p:txBody>
          <a:bodyPr>
            <a:normAutofit/>
          </a:bodyPr>
          <a:lstStyle/>
          <a:p>
            <a:r>
              <a:rPr lang="en-US" dirty="0"/>
              <a:t>Cleaning steps I (Youssef Basher) made:</a:t>
            </a:r>
          </a:p>
          <a:p>
            <a:r>
              <a:rPr lang="en-US" dirty="0"/>
              <a:t>1/we Appropriate columns data types to avoid any errors</a:t>
            </a:r>
          </a:p>
          <a:p>
            <a:r>
              <a:rPr lang="en-US" dirty="0"/>
              <a:t>2/from filter we unselect null values from end time column</a:t>
            </a:r>
          </a:p>
          <a:p>
            <a:r>
              <a:rPr lang="en-US" dirty="0"/>
              <a:t>3/we replace blank values in operator column with unknown</a:t>
            </a:r>
          </a:p>
          <a:p>
            <a:r>
              <a:rPr lang="en-US" dirty="0"/>
              <a:t>4/we transform table downtime to "unpivot shape" to be clear in visualization</a:t>
            </a:r>
          </a:p>
          <a:p>
            <a:r>
              <a:rPr lang="en-US" dirty="0"/>
              <a:t>5/we transform values in product column with standard name to each product </a:t>
            </a:r>
          </a:p>
          <a:p>
            <a:r>
              <a:rPr lang="en-US" dirty="0"/>
              <a:t>6/Remove Duplicate Rows from Downtime Table</a:t>
            </a:r>
          </a:p>
        </p:txBody>
      </p:sp>
    </p:spTree>
    <p:extLst>
      <p:ext uri="{BB962C8B-B14F-4D97-AF65-F5344CB8AC3E}">
        <p14:creationId xmlns:p14="http://schemas.microsoft.com/office/powerpoint/2010/main" val="3105015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1B76D-13DB-4631-A32E-F55CFBD66EDD}"/>
              </a:ext>
            </a:extLst>
          </p:cNvPr>
          <p:cNvSpPr>
            <a:spLocks noGrp="1"/>
          </p:cNvSpPr>
          <p:nvPr>
            <p:ph type="title"/>
          </p:nvPr>
        </p:nvSpPr>
        <p:spPr>
          <a:xfrm>
            <a:off x="88054" y="0"/>
            <a:ext cx="1557866" cy="538480"/>
          </a:xfrm>
        </p:spPr>
        <p:txBody>
          <a:bodyPr>
            <a:normAutofit fontScale="90000"/>
          </a:bodyPr>
          <a:lstStyle/>
          <a:p>
            <a:r>
              <a:rPr lang="en-US" dirty="0"/>
              <a:t>Before</a:t>
            </a:r>
          </a:p>
        </p:txBody>
      </p:sp>
      <p:pic>
        <p:nvPicPr>
          <p:cNvPr id="6" name="Picture 5">
            <a:extLst>
              <a:ext uri="{FF2B5EF4-FFF2-40B4-BE49-F238E27FC236}">
                <a16:creationId xmlns:a16="http://schemas.microsoft.com/office/drawing/2014/main" id="{19A38316-6BB8-4E9B-B154-EC3803D61B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557" y="538480"/>
            <a:ext cx="11529310" cy="6140019"/>
          </a:xfrm>
          <a:prstGeom prst="rect">
            <a:avLst/>
          </a:prstGeom>
        </p:spPr>
      </p:pic>
    </p:spTree>
    <p:extLst>
      <p:ext uri="{BB962C8B-B14F-4D97-AF65-F5344CB8AC3E}">
        <p14:creationId xmlns:p14="http://schemas.microsoft.com/office/powerpoint/2010/main" val="1973168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1B76D-13DB-4631-A32E-F55CFBD66EDD}"/>
              </a:ext>
            </a:extLst>
          </p:cNvPr>
          <p:cNvSpPr>
            <a:spLocks noGrp="1"/>
          </p:cNvSpPr>
          <p:nvPr>
            <p:ph type="title"/>
          </p:nvPr>
        </p:nvSpPr>
        <p:spPr>
          <a:xfrm>
            <a:off x="180713" y="154013"/>
            <a:ext cx="1557866" cy="467360"/>
          </a:xfrm>
        </p:spPr>
        <p:txBody>
          <a:bodyPr>
            <a:normAutofit fontScale="90000"/>
          </a:bodyPr>
          <a:lstStyle/>
          <a:p>
            <a:r>
              <a:rPr lang="en-US" dirty="0"/>
              <a:t>After</a:t>
            </a:r>
          </a:p>
        </p:txBody>
      </p:sp>
      <p:pic>
        <p:nvPicPr>
          <p:cNvPr id="5" name="Picture 4">
            <a:extLst>
              <a:ext uri="{FF2B5EF4-FFF2-40B4-BE49-F238E27FC236}">
                <a16:creationId xmlns:a16="http://schemas.microsoft.com/office/drawing/2014/main" id="{2D329792-64B8-42E4-97A9-6F6BF8B1EC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713" y="743984"/>
            <a:ext cx="11830574" cy="5837454"/>
          </a:xfrm>
          <a:prstGeom prst="rect">
            <a:avLst/>
          </a:prstGeom>
        </p:spPr>
      </p:pic>
    </p:spTree>
    <p:extLst>
      <p:ext uri="{BB962C8B-B14F-4D97-AF65-F5344CB8AC3E}">
        <p14:creationId xmlns:p14="http://schemas.microsoft.com/office/powerpoint/2010/main" val="3760909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B9884-458B-49A2-9057-5BA2E985F9EF}"/>
              </a:ext>
            </a:extLst>
          </p:cNvPr>
          <p:cNvSpPr>
            <a:spLocks noGrp="1"/>
          </p:cNvSpPr>
          <p:nvPr>
            <p:ph type="title"/>
          </p:nvPr>
        </p:nvSpPr>
        <p:spPr>
          <a:xfrm>
            <a:off x="331109" y="208724"/>
            <a:ext cx="2909931" cy="664346"/>
          </a:xfrm>
        </p:spPr>
        <p:txBody>
          <a:bodyPr>
            <a:normAutofit fontScale="90000"/>
          </a:bodyPr>
          <a:lstStyle/>
          <a:p>
            <a:r>
              <a:rPr lang="en-US" dirty="0"/>
              <a:t>Data Modeling </a:t>
            </a:r>
          </a:p>
        </p:txBody>
      </p:sp>
      <p:pic>
        <p:nvPicPr>
          <p:cNvPr id="5" name="Picture 4">
            <a:extLst>
              <a:ext uri="{FF2B5EF4-FFF2-40B4-BE49-F238E27FC236}">
                <a16:creationId xmlns:a16="http://schemas.microsoft.com/office/drawing/2014/main" id="{259FA4B4-8850-4DAE-B62D-36E7DC4316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287" y="797980"/>
            <a:ext cx="11767449" cy="5783214"/>
          </a:xfrm>
          <a:prstGeom prst="rect">
            <a:avLst/>
          </a:prstGeom>
        </p:spPr>
      </p:pic>
    </p:spTree>
    <p:extLst>
      <p:ext uri="{BB962C8B-B14F-4D97-AF65-F5344CB8AC3E}">
        <p14:creationId xmlns:p14="http://schemas.microsoft.com/office/powerpoint/2010/main" val="1394067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756B5-BC3A-4BAB-8776-1377E48DB50B}"/>
              </a:ext>
            </a:extLst>
          </p:cNvPr>
          <p:cNvSpPr>
            <a:spLocks noGrp="1"/>
          </p:cNvSpPr>
          <p:nvPr>
            <p:ph type="title"/>
          </p:nvPr>
        </p:nvSpPr>
        <p:spPr>
          <a:xfrm>
            <a:off x="179110" y="204247"/>
            <a:ext cx="8962917" cy="521616"/>
          </a:xfrm>
        </p:spPr>
        <p:txBody>
          <a:bodyPr>
            <a:normAutofit fontScale="90000"/>
          </a:bodyPr>
          <a:lstStyle/>
          <a:p>
            <a:r>
              <a:rPr lang="en-US" dirty="0"/>
              <a:t>Feature Engineering</a:t>
            </a:r>
          </a:p>
        </p:txBody>
      </p:sp>
      <p:pic>
        <p:nvPicPr>
          <p:cNvPr id="26" name="Picture 25">
            <a:extLst>
              <a:ext uri="{FF2B5EF4-FFF2-40B4-BE49-F238E27FC236}">
                <a16:creationId xmlns:a16="http://schemas.microsoft.com/office/drawing/2014/main" id="{E9C61CD6-3077-4DD3-97F7-6C79362E58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3881" y="204247"/>
            <a:ext cx="6569009" cy="3444538"/>
          </a:xfrm>
          <a:prstGeom prst="rect">
            <a:avLst/>
          </a:prstGeom>
        </p:spPr>
      </p:pic>
      <p:pic>
        <p:nvPicPr>
          <p:cNvPr id="28" name="Picture 27">
            <a:extLst>
              <a:ext uri="{FF2B5EF4-FFF2-40B4-BE49-F238E27FC236}">
                <a16:creationId xmlns:a16="http://schemas.microsoft.com/office/drawing/2014/main" id="{B8AD5673-A1D0-4A04-9FA4-9552CACE0F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110" y="3800896"/>
            <a:ext cx="6340389" cy="2720576"/>
          </a:xfrm>
          <a:prstGeom prst="rect">
            <a:avLst/>
          </a:prstGeom>
        </p:spPr>
      </p:pic>
    </p:spTree>
    <p:extLst>
      <p:ext uri="{BB962C8B-B14F-4D97-AF65-F5344CB8AC3E}">
        <p14:creationId xmlns:p14="http://schemas.microsoft.com/office/powerpoint/2010/main" val="2812284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FD42BFD5-59FB-4DB1-AFFA-0FC6DAF6FC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52227" y="128760"/>
            <a:ext cx="7567316" cy="3109066"/>
          </a:xfrm>
          <a:prstGeom prst="rect">
            <a:avLst/>
          </a:prstGeom>
        </p:spPr>
      </p:pic>
      <p:pic>
        <p:nvPicPr>
          <p:cNvPr id="26" name="Picture 25">
            <a:extLst>
              <a:ext uri="{FF2B5EF4-FFF2-40B4-BE49-F238E27FC236}">
                <a16:creationId xmlns:a16="http://schemas.microsoft.com/office/drawing/2014/main" id="{78D2642E-E3F1-4818-9CA3-EBB3D445D8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445" y="3429000"/>
            <a:ext cx="7026249" cy="3237826"/>
          </a:xfrm>
          <a:prstGeom prst="rect">
            <a:avLst/>
          </a:prstGeom>
        </p:spPr>
      </p:pic>
    </p:spTree>
    <p:extLst>
      <p:ext uri="{BB962C8B-B14F-4D97-AF65-F5344CB8AC3E}">
        <p14:creationId xmlns:p14="http://schemas.microsoft.com/office/powerpoint/2010/main" val="568115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19D47ED-806D-4D33-8DEA-494B912A6605}"/>
              </a:ext>
            </a:extLst>
          </p:cNvPr>
          <p:cNvPicPr>
            <a:picLocks noChangeAspect="1"/>
          </p:cNvPicPr>
          <p:nvPr/>
        </p:nvPicPr>
        <p:blipFill rotWithShape="1">
          <a:blip r:embed="rId2">
            <a:extLst>
              <a:ext uri="{28A0092B-C50C-407E-A947-70E740481C1C}">
                <a14:useLocalDpi xmlns:a14="http://schemas.microsoft.com/office/drawing/2010/main" val="0"/>
              </a:ext>
            </a:extLst>
          </a:blip>
          <a:srcRect l="51503" t="234" r="2"/>
          <a:stretch/>
        </p:blipFill>
        <p:spPr>
          <a:xfrm>
            <a:off x="8461486" y="160255"/>
            <a:ext cx="3589111" cy="2790230"/>
          </a:xfrm>
          <a:prstGeom prst="rect">
            <a:avLst/>
          </a:prstGeom>
        </p:spPr>
      </p:pic>
      <p:pic>
        <p:nvPicPr>
          <p:cNvPr id="7" name="Picture 6">
            <a:extLst>
              <a:ext uri="{FF2B5EF4-FFF2-40B4-BE49-F238E27FC236}">
                <a16:creationId xmlns:a16="http://schemas.microsoft.com/office/drawing/2014/main" id="{7C91A214-1C5F-4A08-8764-3E93D2C952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403" y="160255"/>
            <a:ext cx="8207451" cy="4930567"/>
          </a:xfrm>
          <a:prstGeom prst="rect">
            <a:avLst/>
          </a:prstGeom>
        </p:spPr>
      </p:pic>
    </p:spTree>
    <p:extLst>
      <p:ext uri="{BB962C8B-B14F-4D97-AF65-F5344CB8AC3E}">
        <p14:creationId xmlns:p14="http://schemas.microsoft.com/office/powerpoint/2010/main" val="3887656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D6689C8-1A4A-4066-B5C5-66C11E1520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8627" y="532538"/>
            <a:ext cx="6439458" cy="2644369"/>
          </a:xfrm>
          <a:prstGeom prst="rect">
            <a:avLst/>
          </a:prstGeom>
        </p:spPr>
      </p:pic>
      <p:sp>
        <p:nvSpPr>
          <p:cNvPr id="10" name="TextBox 9">
            <a:extLst>
              <a:ext uri="{FF2B5EF4-FFF2-40B4-BE49-F238E27FC236}">
                <a16:creationId xmlns:a16="http://schemas.microsoft.com/office/drawing/2014/main" id="{5E1DF4D0-7521-4C01-AFB3-9BF4C6CA85AC}"/>
              </a:ext>
            </a:extLst>
          </p:cNvPr>
          <p:cNvSpPr txBox="1"/>
          <p:nvPr/>
        </p:nvSpPr>
        <p:spPr>
          <a:xfrm>
            <a:off x="435204" y="3429000"/>
            <a:ext cx="11321592" cy="1477328"/>
          </a:xfrm>
          <a:prstGeom prst="rect">
            <a:avLst/>
          </a:prstGeom>
          <a:noFill/>
        </p:spPr>
        <p:txBody>
          <a:bodyPr wrap="square" rtlCol="0">
            <a:spAutoFit/>
          </a:bodyPr>
          <a:lstStyle/>
          <a:p>
            <a:r>
              <a:rPr lang="en-US" b="1" dirty="0"/>
              <a:t>Notes</a:t>
            </a:r>
          </a:p>
          <a:p>
            <a:pPr>
              <a:buFont typeface="Arial" panose="020B0604020202020204" pitchFamily="34" charset="0"/>
              <a:buChar char="•"/>
            </a:pPr>
            <a:r>
              <a:rPr lang="en-US" b="1" dirty="0"/>
              <a:t>Columns</a:t>
            </a:r>
            <a:r>
              <a:rPr lang="en-US" dirty="0"/>
              <a:t> are calculated at the row level and return a value for each individual record. </a:t>
            </a:r>
          </a:p>
          <a:p>
            <a:pPr>
              <a:buFont typeface="Arial" panose="020B0604020202020204" pitchFamily="34" charset="0"/>
              <a:buChar char="•"/>
            </a:pPr>
            <a:r>
              <a:rPr lang="en-US" b="1" dirty="0"/>
              <a:t>Measures</a:t>
            </a:r>
            <a:r>
              <a:rPr lang="en-US" dirty="0"/>
              <a:t> are used for aggregations and calculations based on the current filter context. </a:t>
            </a:r>
          </a:p>
          <a:p>
            <a:pPr>
              <a:buFont typeface="Arial" panose="020B0604020202020204" pitchFamily="34" charset="0"/>
              <a:buChar char="•"/>
            </a:pPr>
            <a:r>
              <a:rPr lang="en-US" dirty="0"/>
              <a:t>The </a:t>
            </a:r>
            <a:r>
              <a:rPr lang="en-US" b="1" dirty="0"/>
              <a:t>Day Number</a:t>
            </a:r>
            <a:r>
              <a:rPr lang="en-US" dirty="0"/>
              <a:t> column is used to ensure correct chronological sorting of weekdays in visuals instead of alphabetical order. </a:t>
            </a:r>
          </a:p>
        </p:txBody>
      </p:sp>
    </p:spTree>
    <p:extLst>
      <p:ext uri="{BB962C8B-B14F-4D97-AF65-F5344CB8AC3E}">
        <p14:creationId xmlns:p14="http://schemas.microsoft.com/office/powerpoint/2010/main" val="2436793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CE563-70A5-4B94-86D6-C7BD83257E09}"/>
              </a:ext>
            </a:extLst>
          </p:cNvPr>
          <p:cNvSpPr>
            <a:spLocks noGrp="1"/>
          </p:cNvSpPr>
          <p:nvPr>
            <p:ph type="title"/>
          </p:nvPr>
        </p:nvSpPr>
        <p:spPr>
          <a:xfrm>
            <a:off x="-1625600" y="1288337"/>
            <a:ext cx="13329920" cy="3185120"/>
          </a:xfrm>
        </p:spPr>
        <p:txBody>
          <a:bodyPr>
            <a:noAutofit/>
          </a:bodyPr>
          <a:lstStyle/>
          <a:p>
            <a:pPr algn="ctr"/>
            <a:r>
              <a:rPr lang="en-US" sz="19300" dirty="0"/>
              <a:t>  </a:t>
            </a:r>
            <a:r>
              <a:rPr lang="en-US" sz="13400" dirty="0"/>
              <a:t>Thank You</a:t>
            </a:r>
            <a:endParaRPr lang="en-US" sz="4000" dirty="0"/>
          </a:p>
        </p:txBody>
      </p:sp>
      <p:pic>
        <p:nvPicPr>
          <p:cNvPr id="5" name="Content Placeholder 4">
            <a:extLst>
              <a:ext uri="{FF2B5EF4-FFF2-40B4-BE49-F238E27FC236}">
                <a16:creationId xmlns:a16="http://schemas.microsoft.com/office/drawing/2014/main" id="{2248FDD2-6309-4E2A-AD29-2425D34553CC}"/>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86362" y="5558155"/>
            <a:ext cx="984956" cy="554038"/>
          </a:xfrm>
        </p:spPr>
      </p:pic>
      <p:sp>
        <p:nvSpPr>
          <p:cNvPr id="8" name="TextBox 7">
            <a:extLst>
              <a:ext uri="{FF2B5EF4-FFF2-40B4-BE49-F238E27FC236}">
                <a16:creationId xmlns:a16="http://schemas.microsoft.com/office/drawing/2014/main" id="{8EDC1210-3D7F-467C-9E2E-0144A4B85D99}"/>
              </a:ext>
            </a:extLst>
          </p:cNvPr>
          <p:cNvSpPr txBox="1"/>
          <p:nvPr/>
        </p:nvSpPr>
        <p:spPr>
          <a:xfrm>
            <a:off x="1259558" y="5650508"/>
            <a:ext cx="2580922" cy="369332"/>
          </a:xfrm>
          <a:prstGeom prst="rect">
            <a:avLst/>
          </a:prstGeom>
          <a:noFill/>
        </p:spPr>
        <p:txBody>
          <a:bodyPr wrap="square" rtlCol="0">
            <a:spAutoFit/>
          </a:bodyPr>
          <a:lstStyle/>
          <a:p>
            <a:r>
              <a:rPr lang="en-US" i="1" u="sng" dirty="0"/>
              <a:t>GitHub Link</a:t>
            </a:r>
          </a:p>
        </p:txBody>
      </p:sp>
    </p:spTree>
    <p:extLst>
      <p:ext uri="{BB962C8B-B14F-4D97-AF65-F5344CB8AC3E}">
        <p14:creationId xmlns:p14="http://schemas.microsoft.com/office/powerpoint/2010/main" val="70648936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TM02900688[[fn=Facet]]</Template>
  <TotalTime>553</TotalTime>
  <Words>505</Words>
  <Application>Microsoft Office PowerPoint</Application>
  <PresentationFormat>Widescreen</PresentationFormat>
  <Paragraphs>69</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Trebuchet MS</vt:lpstr>
      <vt:lpstr>Wingdings</vt:lpstr>
      <vt:lpstr>Wingdings 3</vt:lpstr>
      <vt:lpstr>Facet</vt:lpstr>
      <vt:lpstr>Manufacturing Downtime  Analysis Project</vt:lpstr>
      <vt:lpstr>Agenda</vt:lpstr>
      <vt:lpstr> Team Members</vt:lpstr>
      <vt:lpstr>Project Overview</vt:lpstr>
      <vt:lpstr>Data Analysis Steps</vt:lpstr>
      <vt:lpstr>Collecting Extra Data</vt:lpstr>
      <vt:lpstr>Cleaning</vt:lpstr>
      <vt:lpstr>Before</vt:lpstr>
      <vt:lpstr>After</vt:lpstr>
      <vt:lpstr>Data Modeling </vt:lpstr>
      <vt:lpstr>Feature Engineering</vt:lpstr>
      <vt:lpstr>PowerPoint Presentation</vt:lpstr>
      <vt:lpstr>PowerPoint Presentation</vt:lpstr>
      <vt:lpstr>PowerPoint Presentation</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Manufacturing Downtime Project</dc:title>
  <dc:creator>youssefabdelgawad758@outlook.com</dc:creator>
  <cp:lastModifiedBy>يوسف بشير السيد عبداللطيف عبدالجواد</cp:lastModifiedBy>
  <cp:revision>41</cp:revision>
  <dcterms:created xsi:type="dcterms:W3CDTF">2026-03-08T21:28:05Z</dcterms:created>
  <dcterms:modified xsi:type="dcterms:W3CDTF">2026-04-06T20:23:17Z</dcterms:modified>
</cp:coreProperties>
</file>