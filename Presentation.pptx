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64" r:id="rId3"/>
    <p:sldId id="258" r:id="rId4"/>
    <p:sldId id="257" r:id="rId5"/>
    <p:sldId id="259" r:id="rId6"/>
    <p:sldId id="262" r:id="rId7"/>
    <p:sldId id="298" r:id="rId8"/>
    <p:sldId id="260" r:id="rId9"/>
    <p:sldId id="263" r:id="rId10"/>
    <p:sldId id="266" r:id="rId11"/>
    <p:sldId id="261" r:id="rId12"/>
    <p:sldId id="278" r:id="rId13"/>
    <p:sldId id="279" r:id="rId14"/>
    <p:sldId id="280" r:id="rId15"/>
    <p:sldId id="277" r:id="rId16"/>
    <p:sldId id="283" r:id="rId17"/>
    <p:sldId id="275" r:id="rId18"/>
    <p:sldId id="304" r:id="rId19"/>
    <p:sldId id="274" r:id="rId20"/>
    <p:sldId id="312" r:id="rId21"/>
    <p:sldId id="313" r:id="rId22"/>
    <p:sldId id="314" r:id="rId23"/>
    <p:sldId id="315" r:id="rId24"/>
    <p:sldId id="316" r:id="rId25"/>
    <p:sldId id="26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FEB1A4-0CC4-4C09-B84C-6F3EBE4AEE50}">
          <p14:sldIdLst>
            <p14:sldId id="256"/>
            <p14:sldId id="264"/>
            <p14:sldId id="258"/>
            <p14:sldId id="257"/>
            <p14:sldId id="259"/>
            <p14:sldId id="262"/>
            <p14:sldId id="298"/>
            <p14:sldId id="260"/>
            <p14:sldId id="263"/>
            <p14:sldId id="266"/>
            <p14:sldId id="261"/>
            <p14:sldId id="278"/>
            <p14:sldId id="279"/>
            <p14:sldId id="280"/>
            <p14:sldId id="277"/>
            <p14:sldId id="283"/>
            <p14:sldId id="275"/>
            <p14:sldId id="304"/>
            <p14:sldId id="274"/>
            <p14:sldId id="312"/>
            <p14:sldId id="313"/>
            <p14:sldId id="314"/>
            <p14:sldId id="315"/>
            <p14:sldId id="316"/>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31" autoAdjust="0"/>
    <p:restoredTop sz="94660"/>
  </p:normalViewPr>
  <p:slideViewPr>
    <p:cSldViewPr snapToGrid="0">
      <p:cViewPr varScale="1">
        <p:scale>
          <a:sx n="90" d="100"/>
          <a:sy n="90" d="100"/>
        </p:scale>
        <p:origin x="11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596080-3542-4A9C-8CCA-B41DA5DA6BE5}" type="datetimeFigureOut">
              <a:rPr lang="en-US" smtClean="0"/>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4883E-101E-49C0-AB9A-67D4B4B9E755}" type="slidenum">
              <a:rPr lang="en-US" smtClean="0"/>
              <a:t>‹#›</a:t>
            </a:fld>
            <a:endParaRPr lang="en-US"/>
          </a:p>
        </p:txBody>
      </p:sp>
    </p:spTree>
    <p:extLst>
      <p:ext uri="{BB962C8B-B14F-4D97-AF65-F5344CB8AC3E}">
        <p14:creationId xmlns:p14="http://schemas.microsoft.com/office/powerpoint/2010/main" val="129028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4883E-101E-49C0-AB9A-67D4B4B9E755}" type="slidenum">
              <a:rPr lang="en-US" smtClean="0"/>
              <a:t>15</a:t>
            </a:fld>
            <a:endParaRPr lang="en-US"/>
          </a:p>
        </p:txBody>
      </p:sp>
    </p:spTree>
    <p:extLst>
      <p:ext uri="{BB962C8B-B14F-4D97-AF65-F5344CB8AC3E}">
        <p14:creationId xmlns:p14="http://schemas.microsoft.com/office/powerpoint/2010/main" val="4235640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2151182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5782296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8350873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E81352-D430-45BD-9ADF-9D376B8936B2}"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40586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E81352-D430-45BD-9ADF-9D376B8936B2}"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049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E81352-D430-45BD-9ADF-9D376B8936B2}"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355078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81352-D430-45BD-9ADF-9D376B8936B2}"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25313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665245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854722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95785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90195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8254720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61351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1632246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6922132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735340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0E81352-D430-45BD-9ADF-9D376B8936B2}" type="datetimeFigureOut">
              <a:rPr lang="en-US" smtClean="0"/>
              <a:t>5/15/2026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3E8C58A-5032-49BF-9B63-82D0508B5EF7}" type="slidenum">
              <a:rPr lang="en-US" smtClean="0"/>
              <a:t>‹#›</a:t>
            </a:fld>
            <a:endParaRPr lang="en-US"/>
          </a:p>
        </p:txBody>
      </p:sp>
    </p:spTree>
    <p:extLst>
      <p:ext uri="{BB962C8B-B14F-4D97-AF65-F5344CB8AC3E}">
        <p14:creationId xmlns:p14="http://schemas.microsoft.com/office/powerpoint/2010/main" val="140985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reepngimg.com/png/18831-team-png-pic"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lthub.ubc.ca/guides/github-instructor-guide/" TargetMode="External"/><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DB302-4E04-4584-A654-652459DF90E2}"/>
              </a:ext>
            </a:extLst>
          </p:cNvPr>
          <p:cNvSpPr>
            <a:spLocks noGrp="1"/>
          </p:cNvSpPr>
          <p:nvPr>
            <p:ph type="ctrTitle"/>
          </p:nvPr>
        </p:nvSpPr>
        <p:spPr>
          <a:xfrm>
            <a:off x="1129453" y="2079414"/>
            <a:ext cx="8522163" cy="1646302"/>
          </a:xfrm>
        </p:spPr>
        <p:txBody>
          <a:bodyPr/>
          <a:lstStyle/>
          <a:p>
            <a:pPr algn="ctr"/>
            <a:r>
              <a:rPr lang="en-US" dirty="0"/>
              <a:t>Manufacturing Downtime </a:t>
            </a:r>
            <a:br>
              <a:rPr lang="ar-EG" dirty="0"/>
            </a:br>
            <a:r>
              <a:rPr lang="en-US" dirty="0"/>
              <a:t> Analysis Project</a:t>
            </a:r>
          </a:p>
        </p:txBody>
      </p:sp>
      <p:sp>
        <p:nvSpPr>
          <p:cNvPr id="3" name="Subtitle 2">
            <a:extLst>
              <a:ext uri="{FF2B5EF4-FFF2-40B4-BE49-F238E27FC236}">
                <a16:creationId xmlns:a16="http://schemas.microsoft.com/office/drawing/2014/main" id="{9263E988-832A-4181-9B8E-210A2310F8AB}"/>
              </a:ext>
            </a:extLst>
          </p:cNvPr>
          <p:cNvSpPr>
            <a:spLocks noGrp="1"/>
          </p:cNvSpPr>
          <p:nvPr>
            <p:ph type="subTitle" idx="1"/>
          </p:nvPr>
        </p:nvSpPr>
        <p:spPr/>
        <p:txBody>
          <a:bodyPr/>
          <a:lstStyle/>
          <a:p>
            <a:pPr algn="ctr"/>
            <a:r>
              <a:rPr lang="en-US" dirty="0"/>
              <a:t>DEPI_4 Data Analysis Microsoft Power BI Specialist</a:t>
            </a:r>
          </a:p>
        </p:txBody>
      </p:sp>
      <p:pic>
        <p:nvPicPr>
          <p:cNvPr id="5" name="Picture 4">
            <a:extLst>
              <a:ext uri="{FF2B5EF4-FFF2-40B4-BE49-F238E27FC236}">
                <a16:creationId xmlns:a16="http://schemas.microsoft.com/office/drawing/2014/main" id="{AD71EBA1-BF2D-4073-9A03-AF77EA181B36}"/>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spTree>
    <p:extLst>
      <p:ext uri="{BB962C8B-B14F-4D97-AF65-F5344CB8AC3E}">
        <p14:creationId xmlns:p14="http://schemas.microsoft.com/office/powerpoint/2010/main" val="25031039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a:xfrm>
            <a:off x="507652" y="292602"/>
            <a:ext cx="8596668" cy="1320800"/>
          </a:xfrm>
        </p:spPr>
        <p:txBody>
          <a:bodyPr>
            <a:normAutofit/>
          </a:bodyPr>
          <a:lstStyle/>
          <a:p>
            <a:r>
              <a:rPr lang="en-US" sz="3200" dirty="0"/>
              <a:t>Agenda</a:t>
            </a:r>
          </a:p>
        </p:txBody>
      </p:sp>
      <p:sp>
        <p:nvSpPr>
          <p:cNvPr id="3" name="Content Placeholder 2">
            <a:extLst>
              <a:ext uri="{FF2B5EF4-FFF2-40B4-BE49-F238E27FC236}">
                <a16:creationId xmlns:a16="http://schemas.microsoft.com/office/drawing/2014/main" id="{52279EB6-DD3A-477E-9423-9E0A6543255B}"/>
              </a:ext>
            </a:extLst>
          </p:cNvPr>
          <p:cNvSpPr>
            <a:spLocks noGrp="1"/>
          </p:cNvSpPr>
          <p:nvPr>
            <p:ph idx="1"/>
          </p:nvPr>
        </p:nvSpPr>
        <p:spPr>
          <a:xfrm>
            <a:off x="677334" y="1217919"/>
            <a:ext cx="3970080" cy="3880773"/>
          </a:xfrm>
        </p:spPr>
        <p:txBody>
          <a:bodyPr/>
          <a:lstStyle/>
          <a:p>
            <a:pPr>
              <a:buClr>
                <a:schemeClr val="tx1"/>
              </a:buClr>
              <a:buSzPct val="96000"/>
              <a:buFont typeface="Wingdings" panose="05000000000000000000" pitchFamily="2" charset="2"/>
              <a:buChar char="Ø"/>
            </a:pPr>
            <a:r>
              <a:rPr lang="en-US" b="1" dirty="0"/>
              <a:t>1)</a:t>
            </a:r>
            <a:r>
              <a:rPr lang="en-US" dirty="0"/>
              <a:t> </a:t>
            </a:r>
            <a:r>
              <a:rPr lang="en-US" b="1" dirty="0"/>
              <a:t>Team Members   </a:t>
            </a:r>
          </a:p>
          <a:p>
            <a:pPr marL="0" indent="0">
              <a:buClr>
                <a:schemeClr val="tx1"/>
              </a:buClr>
              <a:buSzPct val="96000"/>
              <a:buNone/>
            </a:pPr>
            <a:r>
              <a:rPr lang="en-US" b="1" dirty="0"/>
              <a:t>                </a:t>
            </a:r>
          </a:p>
          <a:p>
            <a:pPr>
              <a:buClr>
                <a:schemeClr val="tx1"/>
              </a:buClr>
              <a:buSzPct val="96000"/>
              <a:buFont typeface="Wingdings" panose="05000000000000000000" pitchFamily="2" charset="2"/>
              <a:buChar char="Ø"/>
            </a:pPr>
            <a:r>
              <a:rPr lang="en-US" b="1" dirty="0"/>
              <a:t>2) Project Overview</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3) Data Analysis Steps</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4) Collecting Data</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5) Questions we will Answer</a:t>
            </a:r>
          </a:p>
        </p:txBody>
      </p:sp>
      <p:sp>
        <p:nvSpPr>
          <p:cNvPr id="4" name="TextBox 3">
            <a:extLst>
              <a:ext uri="{FF2B5EF4-FFF2-40B4-BE49-F238E27FC236}">
                <a16:creationId xmlns:a16="http://schemas.microsoft.com/office/drawing/2014/main" id="{5936E9D8-7101-4F38-B7D7-7BCB3D41BD75}"/>
              </a:ext>
            </a:extLst>
          </p:cNvPr>
          <p:cNvSpPr txBox="1"/>
          <p:nvPr/>
        </p:nvSpPr>
        <p:spPr>
          <a:xfrm>
            <a:off x="5100675" y="1217919"/>
            <a:ext cx="6976987" cy="4524315"/>
          </a:xfrm>
          <a:prstGeom prst="rect">
            <a:avLst/>
          </a:prstGeom>
          <a:noFill/>
        </p:spPr>
        <p:txBody>
          <a:bodyPr wrap="square" rtlCol="0">
            <a:spAutoFit/>
          </a:bodyPr>
          <a:lstStyle/>
          <a:p>
            <a:pPr marL="285750" indent="-285750">
              <a:buFont typeface="Wingdings" panose="05000000000000000000" pitchFamily="2" charset="2"/>
              <a:buChar char="Ø"/>
            </a:pPr>
            <a:r>
              <a:rPr lang="en-US" b="1" dirty="0"/>
              <a:t>6) Cleaning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7) Modeling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8) Feature Engineering (Dax)</a:t>
            </a:r>
          </a:p>
          <a:p>
            <a:endParaRPr lang="en-US" b="1" dirty="0"/>
          </a:p>
          <a:p>
            <a:pPr marL="285750" indent="-285750">
              <a:buFont typeface="Wingdings" panose="05000000000000000000" pitchFamily="2" charset="2"/>
              <a:buChar char="Ø"/>
            </a:pPr>
            <a:r>
              <a:rPr lang="en-US" b="1" dirty="0"/>
              <a:t>9) Sample Visuals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10) Visualization Reports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11) Visualization Dashboard</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12) Insights we Extract from Analysis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B046E5EB-9182-4C0A-9C4E-737CAB47CD43}"/>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spTree>
    <p:extLst>
      <p:ext uri="{BB962C8B-B14F-4D97-AF65-F5344CB8AC3E}">
        <p14:creationId xmlns:p14="http://schemas.microsoft.com/office/powerpoint/2010/main" val="1502085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970F-3D7E-4175-872D-6EA498428A9A}"/>
              </a:ext>
            </a:extLst>
          </p:cNvPr>
          <p:cNvSpPr>
            <a:spLocks noGrp="1"/>
          </p:cNvSpPr>
          <p:nvPr>
            <p:ph type="title"/>
          </p:nvPr>
        </p:nvSpPr>
        <p:spPr>
          <a:xfrm>
            <a:off x="-675058" y="217724"/>
            <a:ext cx="8759097" cy="1193552"/>
          </a:xfrm>
        </p:spPr>
        <p:txBody>
          <a:bodyPr/>
          <a:lstStyle/>
          <a:p>
            <a:r>
              <a:rPr lang="en-US" dirty="0"/>
              <a:t>      </a:t>
            </a:r>
            <a:r>
              <a:rPr lang="en-US" sz="2400" dirty="0"/>
              <a:t>1)Team Members</a:t>
            </a:r>
            <a:endParaRPr lang="en-US" dirty="0"/>
          </a:p>
        </p:txBody>
      </p:sp>
      <p:sp>
        <p:nvSpPr>
          <p:cNvPr id="3" name="Content Placeholder 2">
            <a:extLst>
              <a:ext uri="{FF2B5EF4-FFF2-40B4-BE49-F238E27FC236}">
                <a16:creationId xmlns:a16="http://schemas.microsoft.com/office/drawing/2014/main" id="{A2C4C49E-9E9B-4DC0-9E73-295E81156D2D}"/>
              </a:ext>
            </a:extLst>
          </p:cNvPr>
          <p:cNvSpPr>
            <a:spLocks noGrp="1"/>
          </p:cNvSpPr>
          <p:nvPr>
            <p:ph idx="1"/>
          </p:nvPr>
        </p:nvSpPr>
        <p:spPr>
          <a:xfrm>
            <a:off x="734818" y="880961"/>
            <a:ext cx="8759097" cy="3585862"/>
          </a:xfrm>
          <a:ln/>
        </p:spPr>
        <p:style>
          <a:lnRef idx="2">
            <a:schemeClr val="accent1"/>
          </a:lnRef>
          <a:fillRef idx="1">
            <a:schemeClr val="lt1"/>
          </a:fillRef>
          <a:effectRef idx="0">
            <a:schemeClr val="accent1"/>
          </a:effectRef>
          <a:fontRef idx="minor">
            <a:schemeClr val="dk1"/>
          </a:fontRef>
        </p:style>
        <p:txBody>
          <a:bodyPr>
            <a:normAutofit/>
          </a:bodyPr>
          <a:lstStyle/>
          <a:p>
            <a:pPr>
              <a:buFont typeface="Arial" panose="020B0604020202020204" pitchFamily="34" charset="0"/>
              <a:buChar char="•"/>
            </a:pPr>
            <a:r>
              <a:rPr lang="en-US" dirty="0"/>
              <a:t>Abram sobhy bekhit </a:t>
            </a:r>
            <a:br>
              <a:rPr lang="en-US" dirty="0"/>
            </a:br>
            <a:endParaRPr lang="ar-EG" dirty="0"/>
          </a:p>
          <a:p>
            <a:pPr>
              <a:buFont typeface="Arial" panose="020B0604020202020204" pitchFamily="34" charset="0"/>
              <a:buChar char="•"/>
            </a:pPr>
            <a:r>
              <a:rPr lang="en-US" dirty="0"/>
              <a:t>Osama Khalil Abdel Fadil </a:t>
            </a:r>
            <a:br>
              <a:rPr lang="en-US" dirty="0"/>
            </a:br>
            <a:endParaRPr lang="ar-EG" dirty="0"/>
          </a:p>
          <a:p>
            <a:pPr>
              <a:buFont typeface="Arial" panose="020B0604020202020204" pitchFamily="34" charset="0"/>
              <a:buChar char="•"/>
            </a:pPr>
            <a:r>
              <a:rPr lang="en-US" dirty="0"/>
              <a:t>Youssef Basher El-Sayed</a:t>
            </a:r>
            <a:br>
              <a:rPr lang="en-US" dirty="0"/>
            </a:br>
            <a:endParaRPr lang="ar-EG" dirty="0"/>
          </a:p>
          <a:p>
            <a:pPr>
              <a:buFont typeface="Arial" panose="020B0604020202020204" pitchFamily="34" charset="0"/>
              <a:buChar char="•"/>
            </a:pPr>
            <a:r>
              <a:rPr lang="en-US" dirty="0"/>
              <a:t>Fady Milad Sadeq</a:t>
            </a:r>
            <a:br>
              <a:rPr lang="en-US" dirty="0"/>
            </a:br>
            <a:endParaRPr lang="ar-EG" dirty="0"/>
          </a:p>
          <a:p>
            <a:pPr>
              <a:buFont typeface="Arial" panose="020B0604020202020204" pitchFamily="34" charset="0"/>
              <a:buChar char="•"/>
            </a:pPr>
            <a:r>
              <a:rPr lang="en-US" dirty="0"/>
              <a:t>Jana Ehab Mohamed</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19A79F42-F17A-4813-856A-F2634A8DB6C8}"/>
              </a:ext>
            </a:extLst>
          </p:cNvPr>
          <p:cNvPicPr>
            <a:picLocks noChangeAspect="1"/>
          </p:cNvPicPr>
          <p:nvPr/>
        </p:nvPicPr>
        <p:blipFill>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493915" y="-468081"/>
            <a:ext cx="2698085" cy="2698085"/>
          </a:xfrm>
          <a:prstGeom prst="rect">
            <a:avLst/>
          </a:prstGeom>
        </p:spPr>
      </p:pic>
      <p:pic>
        <p:nvPicPr>
          <p:cNvPr id="6" name="Picture 5">
            <a:extLst>
              <a:ext uri="{FF2B5EF4-FFF2-40B4-BE49-F238E27FC236}">
                <a16:creationId xmlns:a16="http://schemas.microsoft.com/office/drawing/2014/main" id="{1097FA4A-E2F5-4757-9A21-8E0B77E9D95C}"/>
              </a:ext>
            </a:extLst>
          </p:cNvPr>
          <p:cNvPicPr>
            <a:picLocks noChangeAspect="1"/>
          </p:cNvPicPr>
          <p:nvPr/>
        </p:nvPicPr>
        <p:blipFill rotWithShape="1">
          <a:blip r:embed="rId4">
            <a:alphaModFix/>
            <a:extLst>
              <a:ext uri="{28A0092B-C50C-407E-A947-70E740481C1C}">
                <a14:useLocalDpi xmlns:a14="http://schemas.microsoft.com/office/drawing/2010/main" val="0"/>
              </a:ext>
            </a:extLst>
          </a:blip>
          <a:srcRect l="2682" r="3687"/>
          <a:stretch/>
        </p:blipFill>
        <p:spPr>
          <a:xfrm>
            <a:off x="215938" y="5272408"/>
            <a:ext cx="2030230" cy="13678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810384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B02B-778F-4B07-B03D-81F157867E32}"/>
              </a:ext>
            </a:extLst>
          </p:cNvPr>
          <p:cNvSpPr>
            <a:spLocks noGrp="1"/>
          </p:cNvSpPr>
          <p:nvPr>
            <p:ph type="title"/>
          </p:nvPr>
        </p:nvSpPr>
        <p:spPr>
          <a:xfrm>
            <a:off x="0" y="256615"/>
            <a:ext cx="8596668" cy="904240"/>
          </a:xfrm>
        </p:spPr>
        <p:txBody>
          <a:bodyPr>
            <a:normAutofit/>
          </a:bodyPr>
          <a:lstStyle/>
          <a:p>
            <a:r>
              <a:rPr lang="en-US" sz="2800" dirty="0"/>
              <a:t>  </a:t>
            </a:r>
            <a:r>
              <a:rPr lang="en-US" sz="2400" dirty="0"/>
              <a:t>2) Project Overview</a:t>
            </a:r>
            <a:endParaRPr lang="en-US" sz="2800" dirty="0"/>
          </a:p>
        </p:txBody>
      </p:sp>
      <p:pic>
        <p:nvPicPr>
          <p:cNvPr id="4" name="Picture 3">
            <a:extLst>
              <a:ext uri="{FF2B5EF4-FFF2-40B4-BE49-F238E27FC236}">
                <a16:creationId xmlns:a16="http://schemas.microsoft.com/office/drawing/2014/main" id="{3C63DADF-737B-4500-B3F2-E8BE230E4923}"/>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99179" y="5078879"/>
            <a:ext cx="2030230" cy="1367868"/>
          </a:xfrm>
          <a:prstGeom prst="rect">
            <a:avLst/>
          </a:prstGeom>
        </p:spPr>
      </p:pic>
      <p:sp>
        <p:nvSpPr>
          <p:cNvPr id="9" name="Content Placeholder 2">
            <a:extLst>
              <a:ext uri="{FF2B5EF4-FFF2-40B4-BE49-F238E27FC236}">
                <a16:creationId xmlns:a16="http://schemas.microsoft.com/office/drawing/2014/main" id="{9FBA8B21-D79A-4CA2-9AC4-D09B017F98FA}"/>
              </a:ext>
            </a:extLst>
          </p:cNvPr>
          <p:cNvSpPr>
            <a:spLocks noGrp="1"/>
          </p:cNvSpPr>
          <p:nvPr>
            <p:ph idx="1"/>
          </p:nvPr>
        </p:nvSpPr>
        <p:spPr>
          <a:xfrm>
            <a:off x="717653" y="850137"/>
            <a:ext cx="9272786" cy="4087340"/>
          </a:xfrm>
          <a:solidFill>
            <a:srgbClr val="FFFFFF">
              <a:shade val="85000"/>
            </a:srgbClr>
          </a:solidFill>
          <a:ln>
            <a:noFill/>
          </a:ln>
          <a:effectLst>
            <a:reflection blurRad="12700" stA="38000" endPos="28000" dist="5000" dir="5400000" sy="-100000" algn="bl" rotWithShape="0"/>
          </a:effectLst>
        </p:spPr>
        <p:txBody>
          <a:bodyPr vert="horz" lIns="91440" tIns="45720" rIns="91440" bIns="45720" rtlCol="0">
            <a:normAutofit/>
          </a:bodyPr>
          <a:lstStyle/>
          <a:p>
            <a:r>
              <a:rPr lang="en-US" dirty="0"/>
              <a:t>This project analyzes manufacturing production data to identify the main causes of production downtime and improve operational efficiency.</a:t>
            </a:r>
          </a:p>
          <a:p>
            <a:r>
              <a:rPr lang="en-US" dirty="0"/>
              <a:t>The dataset includes information about production batches, operators, products, production times, and downtime factors affecting the production line.</a:t>
            </a:r>
          </a:p>
          <a:p>
            <a:r>
              <a:rPr lang="en-US" dirty="0"/>
              <a:t>Using Power BI, the data was cleaned, transformed, and analyzed to build interactive dashboards that help monitor production performance, detect delays, identify the most common downtime causes, and evaluate operator performance.</a:t>
            </a:r>
          </a:p>
          <a:p>
            <a:r>
              <a:rPr lang="en-US" dirty="0"/>
              <a:t>The main goal of the project is to support better business decisions and reduce production downtime by discovering useful patterns and operational issues.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21852500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a:xfrm>
            <a:off x="227460" y="226429"/>
            <a:ext cx="8596668" cy="1320800"/>
          </a:xfrm>
        </p:spPr>
        <p:txBody>
          <a:bodyPr>
            <a:normAutofit/>
          </a:bodyPr>
          <a:lstStyle/>
          <a:p>
            <a:r>
              <a:rPr lang="en-US" sz="2400" dirty="0"/>
              <a:t>      3) Data Analysis Steps</a:t>
            </a:r>
          </a:p>
        </p:txBody>
      </p:sp>
      <p:sp>
        <p:nvSpPr>
          <p:cNvPr id="4" name="TextBox 3">
            <a:extLst>
              <a:ext uri="{FF2B5EF4-FFF2-40B4-BE49-F238E27FC236}">
                <a16:creationId xmlns:a16="http://schemas.microsoft.com/office/drawing/2014/main" id="{5936E9D8-7101-4F38-B7D7-7BCB3D41BD75}"/>
              </a:ext>
            </a:extLst>
          </p:cNvPr>
          <p:cNvSpPr txBox="1"/>
          <p:nvPr/>
        </p:nvSpPr>
        <p:spPr>
          <a:xfrm>
            <a:off x="6444355" y="688497"/>
            <a:ext cx="3743837" cy="3631763"/>
          </a:xfrm>
          <a:prstGeom prst="rect">
            <a:avLst/>
          </a:prstGeom>
          <a:noFill/>
        </p:spPr>
        <p:txBody>
          <a:bodyPr wrap="square" rtlCol="0">
            <a:spAutoFit/>
          </a:bodyPr>
          <a:lstStyle/>
          <a:p>
            <a:pPr>
              <a:buClr>
                <a:schemeClr val="accent2"/>
              </a:buClr>
            </a:pPr>
            <a:endParaRPr lang="en-US" sz="2000" b="1" dirty="0"/>
          </a:p>
          <a:p>
            <a:pPr marL="285750" indent="-285750">
              <a:buClr>
                <a:schemeClr val="accent2"/>
              </a:buClr>
              <a:buFont typeface="Wingdings" panose="05000000000000000000" pitchFamily="2" charset="2"/>
              <a:buChar char="Ø"/>
            </a:pPr>
            <a:r>
              <a:rPr lang="en-US" sz="2000" b="1" dirty="0"/>
              <a:t>5) Sample Visual</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6) Reports</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7) Dashboard</a:t>
            </a:r>
          </a:p>
          <a:p>
            <a:pPr marL="285750" indent="-285750">
              <a:buClr>
                <a:schemeClr val="accent2"/>
              </a:buClr>
              <a:buFont typeface="Wingdings" panose="05000000000000000000" pitchFamily="2" charset="2"/>
              <a:buChar char="Ø"/>
            </a:pPr>
            <a:endParaRPr lang="en-US" sz="2400" b="1" dirty="0"/>
          </a:p>
          <a:p>
            <a:pPr marL="285750" indent="-285750">
              <a:buClr>
                <a:schemeClr val="accent2"/>
              </a:buClr>
              <a:buFont typeface="Wingdings" panose="05000000000000000000" pitchFamily="2" charset="2"/>
              <a:buChar char="Ø"/>
            </a:pPr>
            <a:r>
              <a:rPr lang="en-US" sz="2000" b="1" dirty="0"/>
              <a:t>8) Insights</a:t>
            </a:r>
          </a:p>
          <a:p>
            <a:endParaRPr lang="en-US" sz="2400" b="1"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521572D2-CE9F-4AF3-8344-0740ECB071CB}"/>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227460" y="5245466"/>
            <a:ext cx="2030230" cy="1367868"/>
          </a:xfrm>
          <a:prstGeom prst="rect">
            <a:avLst/>
          </a:prstGeom>
        </p:spPr>
      </p:pic>
      <p:sp>
        <p:nvSpPr>
          <p:cNvPr id="7" name="TextBox 6">
            <a:extLst>
              <a:ext uri="{FF2B5EF4-FFF2-40B4-BE49-F238E27FC236}">
                <a16:creationId xmlns:a16="http://schemas.microsoft.com/office/drawing/2014/main" id="{23E1C18B-66FB-4CC3-911E-DEF13CE4CCF0}"/>
              </a:ext>
            </a:extLst>
          </p:cNvPr>
          <p:cNvSpPr txBox="1"/>
          <p:nvPr/>
        </p:nvSpPr>
        <p:spPr>
          <a:xfrm>
            <a:off x="2352163" y="1057829"/>
            <a:ext cx="3743837" cy="2893100"/>
          </a:xfrm>
          <a:prstGeom prst="rect">
            <a:avLst/>
          </a:prstGeom>
          <a:noFill/>
        </p:spPr>
        <p:txBody>
          <a:bodyPr wrap="square" rtlCol="0">
            <a:spAutoFit/>
          </a:bodyPr>
          <a:lstStyle/>
          <a:p>
            <a:pPr marL="285750" indent="-285750">
              <a:buClr>
                <a:schemeClr val="accent2"/>
              </a:buClr>
              <a:buFont typeface="Wingdings" panose="05000000000000000000" pitchFamily="2" charset="2"/>
              <a:buChar char="Ø"/>
            </a:pPr>
            <a:r>
              <a:rPr lang="en-US" sz="2000" b="1" dirty="0"/>
              <a:t>1) Collecting Data</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2) Cleaning</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3) Modeling </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4) Dax </a:t>
            </a:r>
            <a:endParaRPr lang="en-US" sz="2400" b="1"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dirty="0"/>
          </a:p>
        </p:txBody>
      </p:sp>
      <p:pic>
        <p:nvPicPr>
          <p:cNvPr id="8" name="Picture 7">
            <a:extLst>
              <a:ext uri="{FF2B5EF4-FFF2-40B4-BE49-F238E27FC236}">
                <a16:creationId xmlns:a16="http://schemas.microsoft.com/office/drawing/2014/main" id="{22F6EA02-2575-4215-860F-558EBCF18AE0}"/>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2551194" y="3659332"/>
            <a:ext cx="6272934" cy="2818347"/>
          </a:xfrm>
          <a:prstGeom prst="rect">
            <a:avLst/>
          </a:prstGeom>
        </p:spPr>
      </p:pic>
    </p:spTree>
    <p:extLst>
      <p:ext uri="{BB962C8B-B14F-4D97-AF65-F5344CB8AC3E}">
        <p14:creationId xmlns:p14="http://schemas.microsoft.com/office/powerpoint/2010/main" val="15308384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7A2F7-7CC9-4528-BA85-2875F0218DE9}"/>
              </a:ext>
            </a:extLst>
          </p:cNvPr>
          <p:cNvSpPr>
            <a:spLocks noGrp="1"/>
          </p:cNvSpPr>
          <p:nvPr>
            <p:ph type="title"/>
          </p:nvPr>
        </p:nvSpPr>
        <p:spPr>
          <a:xfrm>
            <a:off x="677334" y="288300"/>
            <a:ext cx="8596668" cy="672445"/>
          </a:xfrm>
        </p:spPr>
        <p:txBody>
          <a:bodyPr>
            <a:normAutofit/>
          </a:bodyPr>
          <a:lstStyle/>
          <a:p>
            <a:r>
              <a:rPr lang="en-US" sz="2400" dirty="0"/>
              <a:t>4) Collecting Data</a:t>
            </a:r>
          </a:p>
        </p:txBody>
      </p:sp>
      <p:sp>
        <p:nvSpPr>
          <p:cNvPr id="3" name="Content Placeholder 2">
            <a:extLst>
              <a:ext uri="{FF2B5EF4-FFF2-40B4-BE49-F238E27FC236}">
                <a16:creationId xmlns:a16="http://schemas.microsoft.com/office/drawing/2014/main" id="{34048126-D2E5-4685-8FC9-4369F53B52A0}"/>
              </a:ext>
            </a:extLst>
          </p:cNvPr>
          <p:cNvSpPr>
            <a:spLocks noGrp="1"/>
          </p:cNvSpPr>
          <p:nvPr>
            <p:ph idx="1"/>
          </p:nvPr>
        </p:nvSpPr>
        <p:spPr>
          <a:xfrm>
            <a:off x="1393772" y="1107223"/>
            <a:ext cx="8793235" cy="2474963"/>
          </a:xfrm>
        </p:spPr>
        <p:txBody>
          <a:bodyPr>
            <a:normAutofit/>
          </a:bodyPr>
          <a:lstStyle/>
          <a:p>
            <a:pPr>
              <a:buFont typeface="+mj-lt"/>
              <a:buAutoNum type="arabicPeriod"/>
            </a:pPr>
            <a:r>
              <a:rPr lang="en-US" dirty="0"/>
              <a:t>We collected data from </a:t>
            </a:r>
            <a:r>
              <a:rPr lang="en-US" b="1" dirty="0"/>
              <a:t>DEPI.</a:t>
            </a:r>
          </a:p>
          <a:p>
            <a:pPr>
              <a:buFont typeface="+mj-lt"/>
              <a:buAutoNum type="arabicPeriod"/>
            </a:pPr>
            <a:r>
              <a:rPr lang="en-US" dirty="0"/>
              <a:t>This </a:t>
            </a:r>
            <a:r>
              <a:rPr lang="en-US" b="1" dirty="0"/>
              <a:t>data allows us to </a:t>
            </a:r>
            <a:r>
              <a:rPr lang="en-US" dirty="0"/>
              <a:t>perform proper data cleaning, including </a:t>
            </a:r>
            <a:r>
              <a:rPr lang="en-US" b="1" dirty="0"/>
              <a:t>handling missing values</a:t>
            </a:r>
            <a:r>
              <a:rPr lang="en-US" dirty="0"/>
              <a:t>, correcting names, </a:t>
            </a:r>
            <a:r>
              <a:rPr lang="en-US" b="1" dirty="0"/>
              <a:t>detecting inconsistencies</a:t>
            </a:r>
            <a:r>
              <a:rPr lang="en-US" dirty="0"/>
              <a:t>, calculating durations</a:t>
            </a:r>
            <a:r>
              <a:rPr lang="en-US" b="1" dirty="0"/>
              <a:t>, identifying outliers</a:t>
            </a:r>
            <a:r>
              <a:rPr lang="en-US" dirty="0"/>
              <a:t>, and validating ranges.</a:t>
            </a:r>
          </a:p>
          <a:p>
            <a:pPr>
              <a:buFont typeface="+mj-lt"/>
              <a:buAutoNum type="arabicPeriod"/>
            </a:pPr>
            <a:r>
              <a:rPr lang="en-US" dirty="0"/>
              <a:t>The goal is to ensure high-quality, consistent data for reliable analysis.</a:t>
            </a:r>
          </a:p>
          <a:p>
            <a:pPr>
              <a:buFont typeface="+mj-lt"/>
              <a:buAutoNum type="arabicPeriod"/>
            </a:pPr>
            <a:r>
              <a:rPr lang="en-US" dirty="0"/>
              <a:t>Ultimately, this supports data-driven decisions to improve machine productivity.</a:t>
            </a:r>
          </a:p>
          <a:p>
            <a:pPr marL="0" indent="0">
              <a:buNone/>
            </a:pPr>
            <a:endParaRPr lang="en-US" dirty="0"/>
          </a:p>
          <a:p>
            <a:endParaRPr lang="en-US" dirty="0"/>
          </a:p>
        </p:txBody>
      </p:sp>
      <p:pic>
        <p:nvPicPr>
          <p:cNvPr id="4" name="Picture 3">
            <a:extLst>
              <a:ext uri="{FF2B5EF4-FFF2-40B4-BE49-F238E27FC236}">
                <a16:creationId xmlns:a16="http://schemas.microsoft.com/office/drawing/2014/main" id="{7A27F65D-79B8-4898-BC81-5AEC50599A9F}"/>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pic>
        <p:nvPicPr>
          <p:cNvPr id="6" name="Picture 5">
            <a:extLst>
              <a:ext uri="{FF2B5EF4-FFF2-40B4-BE49-F238E27FC236}">
                <a16:creationId xmlns:a16="http://schemas.microsoft.com/office/drawing/2014/main" id="{E959E9D0-5617-4953-B015-2A08BBBD3B4B}"/>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2144568" y="3728664"/>
            <a:ext cx="6723115" cy="2681678"/>
          </a:xfrm>
          <a:prstGeom prst="rect">
            <a:avLst/>
          </a:prstGeom>
        </p:spPr>
      </p:pic>
    </p:spTree>
    <p:extLst>
      <p:ext uri="{BB962C8B-B14F-4D97-AF65-F5344CB8AC3E}">
        <p14:creationId xmlns:p14="http://schemas.microsoft.com/office/powerpoint/2010/main" val="42053931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190942FE-F29F-4C8B-A44E-1D8F02303A5E}"/>
              </a:ext>
            </a:extLst>
          </p:cNvPr>
          <p:cNvSpPr txBox="1"/>
          <p:nvPr/>
        </p:nvSpPr>
        <p:spPr>
          <a:xfrm>
            <a:off x="1172694" y="1008392"/>
            <a:ext cx="10765410" cy="2893100"/>
          </a:xfrm>
          <a:prstGeom prst="rect">
            <a:avLst/>
          </a:prstGeom>
          <a:noFill/>
        </p:spPr>
        <p:txBody>
          <a:bodyPr wrap="square" rtlCol="0">
            <a:spAutoFit/>
          </a:bodyPr>
          <a:lstStyle/>
          <a:p>
            <a:r>
              <a:rPr lang="en-US" sz="2000" dirty="0"/>
              <a:t>Key Business Questions</a:t>
            </a:r>
            <a:endParaRPr lang="ar-EG" sz="2000" dirty="0"/>
          </a:p>
          <a:p>
            <a:endParaRPr lang="en-US" dirty="0"/>
          </a:p>
          <a:p>
            <a:r>
              <a:rPr lang="en-US" dirty="0"/>
              <a:t>• Are we meeting the expected production targets and batch times?</a:t>
            </a:r>
            <a:endParaRPr lang="ar-EG" dirty="0"/>
          </a:p>
          <a:p>
            <a:endParaRPr lang="en-US" dirty="0"/>
          </a:p>
          <a:p>
            <a:r>
              <a:rPr lang="en-US" dirty="0"/>
              <a:t>• When does production performance drop during the day or shifts?</a:t>
            </a:r>
            <a:endParaRPr lang="ar-EG" dirty="0"/>
          </a:p>
          <a:p>
            <a:endParaRPr lang="en-US" dirty="0"/>
          </a:p>
          <a:p>
            <a:r>
              <a:rPr lang="en-US" dirty="0"/>
              <a:t>• What are the main reasons behind production delays and downtime?</a:t>
            </a:r>
            <a:endParaRPr lang="ar-EG" dirty="0"/>
          </a:p>
          <a:p>
            <a:endParaRPr lang="en-US" dirty="0"/>
          </a:p>
          <a:p>
            <a:r>
              <a:rPr lang="en-US" dirty="0"/>
              <a:t>• How do operators affect production efficiency and delay rates?</a:t>
            </a:r>
          </a:p>
          <a:p>
            <a:endParaRPr lang="en-US" dirty="0"/>
          </a:p>
        </p:txBody>
      </p:sp>
      <p:sp>
        <p:nvSpPr>
          <p:cNvPr id="5" name="Title 1">
            <a:extLst>
              <a:ext uri="{FF2B5EF4-FFF2-40B4-BE49-F238E27FC236}">
                <a16:creationId xmlns:a16="http://schemas.microsoft.com/office/drawing/2014/main" id="{4459FEFA-38A6-4D0B-BE75-05026F58A3B2}"/>
              </a:ext>
            </a:extLst>
          </p:cNvPr>
          <p:cNvSpPr>
            <a:spLocks noGrp="1"/>
          </p:cNvSpPr>
          <p:nvPr>
            <p:ph type="title"/>
          </p:nvPr>
        </p:nvSpPr>
        <p:spPr>
          <a:xfrm>
            <a:off x="682450" y="335947"/>
            <a:ext cx="8596668" cy="672445"/>
          </a:xfrm>
        </p:spPr>
        <p:txBody>
          <a:bodyPr>
            <a:normAutofit fontScale="90000"/>
          </a:bodyPr>
          <a:lstStyle/>
          <a:p>
            <a:r>
              <a:rPr lang="en-US" sz="2700" dirty="0"/>
              <a:t>5) Questions We need to Answer</a:t>
            </a:r>
            <a:br>
              <a:rPr lang="en-US" sz="1300" dirty="0"/>
            </a:br>
            <a:endParaRPr lang="en-US" sz="2400" dirty="0"/>
          </a:p>
        </p:txBody>
      </p:sp>
      <p:pic>
        <p:nvPicPr>
          <p:cNvPr id="3" name="Picture 2">
            <a:extLst>
              <a:ext uri="{FF2B5EF4-FFF2-40B4-BE49-F238E27FC236}">
                <a16:creationId xmlns:a16="http://schemas.microsoft.com/office/drawing/2014/main" id="{8871C29D-96FB-4731-BBFA-0DDCDF960681}"/>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8503328" y="748936"/>
            <a:ext cx="3640318" cy="3036809"/>
          </a:xfrm>
          <a:prstGeom prst="rect">
            <a:avLst/>
          </a:prstGeom>
        </p:spPr>
      </p:pic>
    </p:spTree>
    <p:extLst>
      <p:ext uri="{BB962C8B-B14F-4D97-AF65-F5344CB8AC3E}">
        <p14:creationId xmlns:p14="http://schemas.microsoft.com/office/powerpoint/2010/main" val="30964692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10FD-1287-4D8B-8B37-18AFB12B18A8}"/>
              </a:ext>
            </a:extLst>
          </p:cNvPr>
          <p:cNvSpPr>
            <a:spLocks noGrp="1"/>
          </p:cNvSpPr>
          <p:nvPr>
            <p:ph type="title"/>
          </p:nvPr>
        </p:nvSpPr>
        <p:spPr>
          <a:xfrm>
            <a:off x="3571362" y="193446"/>
            <a:ext cx="3470461" cy="644165"/>
          </a:xfrm>
        </p:spPr>
        <p:txBody>
          <a:bodyPr>
            <a:normAutofit/>
          </a:bodyPr>
          <a:lstStyle/>
          <a:p>
            <a:r>
              <a:rPr lang="en-US" sz="2400" dirty="0"/>
              <a:t>      6) Data Cleaning</a:t>
            </a:r>
          </a:p>
        </p:txBody>
      </p:sp>
      <p:sp>
        <p:nvSpPr>
          <p:cNvPr id="3" name="Content Placeholder 2">
            <a:extLst>
              <a:ext uri="{FF2B5EF4-FFF2-40B4-BE49-F238E27FC236}">
                <a16:creationId xmlns:a16="http://schemas.microsoft.com/office/drawing/2014/main" id="{039FF2EF-4037-4458-9A94-85B33DD7DD71}"/>
              </a:ext>
            </a:extLst>
          </p:cNvPr>
          <p:cNvSpPr>
            <a:spLocks noGrp="1"/>
          </p:cNvSpPr>
          <p:nvPr>
            <p:ph idx="1"/>
          </p:nvPr>
        </p:nvSpPr>
        <p:spPr>
          <a:xfrm>
            <a:off x="395926" y="847038"/>
            <a:ext cx="9936490" cy="3838084"/>
          </a:xfrm>
        </p:spPr>
        <p:txBody>
          <a:bodyPr>
            <a:normAutofit/>
          </a:bodyPr>
          <a:lstStyle/>
          <a:p>
            <a:pPr marL="0" indent="0">
              <a:buNone/>
            </a:pPr>
            <a:r>
              <a:rPr lang="en-US" dirty="0"/>
              <a:t>Samples of what we made in data cleaning :</a:t>
            </a:r>
          </a:p>
          <a:p>
            <a:pPr marL="0" indent="0">
              <a:buNone/>
            </a:pPr>
            <a:endParaRPr lang="en-US" dirty="0"/>
          </a:p>
          <a:p>
            <a:r>
              <a:rPr lang="en-US" dirty="0"/>
              <a:t>1/we Appropriate columns data types to avoid any errors</a:t>
            </a:r>
          </a:p>
          <a:p>
            <a:r>
              <a:rPr lang="en-US" dirty="0"/>
              <a:t>2/from filter we unselect null values from end time column</a:t>
            </a:r>
          </a:p>
          <a:p>
            <a:r>
              <a:rPr lang="en-US" dirty="0"/>
              <a:t>3/we replace blank values in operator column with unknown</a:t>
            </a:r>
          </a:p>
          <a:p>
            <a:r>
              <a:rPr lang="en-US" dirty="0"/>
              <a:t>4/we transform table downtime to "unpivot shape" to be in appropriate dimension for analysis</a:t>
            </a:r>
          </a:p>
          <a:p>
            <a:r>
              <a:rPr lang="en-US" dirty="0"/>
              <a:t>5/we transform values in product column with standard name to each product </a:t>
            </a:r>
          </a:p>
          <a:p>
            <a:r>
              <a:rPr lang="en-US" dirty="0"/>
              <a:t>6/Remove Duplicate Rows from Downtime Table</a:t>
            </a:r>
          </a:p>
        </p:txBody>
      </p:sp>
      <p:pic>
        <p:nvPicPr>
          <p:cNvPr id="4" name="Picture 3">
            <a:extLst>
              <a:ext uri="{FF2B5EF4-FFF2-40B4-BE49-F238E27FC236}">
                <a16:creationId xmlns:a16="http://schemas.microsoft.com/office/drawing/2014/main" id="{11873EBE-97C6-48B8-A88F-8185FE33C3EA}"/>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208606" y="5327028"/>
            <a:ext cx="2030230" cy="1367868"/>
          </a:xfrm>
          <a:prstGeom prst="rect">
            <a:avLst/>
          </a:prstGeom>
        </p:spPr>
      </p:pic>
    </p:spTree>
    <p:extLst>
      <p:ext uri="{BB962C8B-B14F-4D97-AF65-F5344CB8AC3E}">
        <p14:creationId xmlns:p14="http://schemas.microsoft.com/office/powerpoint/2010/main" val="31050157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236449" y="56562"/>
            <a:ext cx="1557866" cy="538480"/>
          </a:xfrm>
        </p:spPr>
        <p:txBody>
          <a:bodyPr>
            <a:normAutofit/>
          </a:bodyPr>
          <a:lstStyle/>
          <a:p>
            <a:r>
              <a:rPr lang="en-US" sz="2400" dirty="0"/>
              <a:t>Before</a:t>
            </a:r>
            <a:endParaRPr lang="en-US" dirty="0"/>
          </a:p>
        </p:txBody>
      </p:sp>
      <p:pic>
        <p:nvPicPr>
          <p:cNvPr id="6" name="Picture 5">
            <a:extLst>
              <a:ext uri="{FF2B5EF4-FFF2-40B4-BE49-F238E27FC236}">
                <a16:creationId xmlns:a16="http://schemas.microsoft.com/office/drawing/2014/main" id="{19A38316-6BB8-4E9B-B154-EC3803D61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27" y="632748"/>
            <a:ext cx="11529310" cy="6140019"/>
          </a:xfrm>
          <a:prstGeom prst="rect">
            <a:avLst/>
          </a:prstGeom>
        </p:spPr>
      </p:pic>
    </p:spTree>
    <p:extLst>
      <p:ext uri="{BB962C8B-B14F-4D97-AF65-F5344CB8AC3E}">
        <p14:creationId xmlns:p14="http://schemas.microsoft.com/office/powerpoint/2010/main" val="19731686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303229" y="93534"/>
            <a:ext cx="1557866" cy="467360"/>
          </a:xfrm>
        </p:spPr>
        <p:txBody>
          <a:bodyPr>
            <a:normAutofit fontScale="90000"/>
          </a:bodyPr>
          <a:lstStyle/>
          <a:p>
            <a:r>
              <a:rPr lang="en-US" sz="2700" dirty="0"/>
              <a:t>After</a:t>
            </a:r>
            <a:endParaRPr lang="en-US" dirty="0"/>
          </a:p>
        </p:txBody>
      </p:sp>
      <p:pic>
        <p:nvPicPr>
          <p:cNvPr id="5" name="Picture 4">
            <a:extLst>
              <a:ext uri="{FF2B5EF4-FFF2-40B4-BE49-F238E27FC236}">
                <a16:creationId xmlns:a16="http://schemas.microsoft.com/office/drawing/2014/main" id="{2D329792-64B8-42E4-97A9-6F6BF8B1E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67" y="804401"/>
            <a:ext cx="12079066" cy="5960065"/>
          </a:xfrm>
          <a:prstGeom prst="rect">
            <a:avLst/>
          </a:prstGeom>
        </p:spPr>
      </p:pic>
      <p:sp>
        <p:nvSpPr>
          <p:cNvPr id="3" name="Rectangle: Rounded Corners 2">
            <a:extLst>
              <a:ext uri="{FF2B5EF4-FFF2-40B4-BE49-F238E27FC236}">
                <a16:creationId xmlns:a16="http://schemas.microsoft.com/office/drawing/2014/main" id="{01C438A7-0166-4B95-8B3B-A2E8D2D7260E}"/>
              </a:ext>
            </a:extLst>
          </p:cNvPr>
          <p:cNvSpPr/>
          <p:nvPr/>
        </p:nvSpPr>
        <p:spPr>
          <a:xfrm>
            <a:off x="10011267" y="3101420"/>
            <a:ext cx="1923068" cy="1847654"/>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FCB38B3-4304-4FC6-8C20-6DE7F733DF72}"/>
              </a:ext>
            </a:extLst>
          </p:cNvPr>
          <p:cNvSpPr/>
          <p:nvPr/>
        </p:nvSpPr>
        <p:spPr>
          <a:xfrm>
            <a:off x="303229" y="856248"/>
            <a:ext cx="8897332" cy="1329180"/>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9E47F0FC-9FFB-4D5D-9625-DBB775BFF161}"/>
              </a:ext>
            </a:extLst>
          </p:cNvPr>
          <p:cNvSpPr/>
          <p:nvPr/>
        </p:nvSpPr>
        <p:spPr>
          <a:xfrm>
            <a:off x="1747974" y="1197206"/>
            <a:ext cx="1475994"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06045A3-D5A4-4EA7-9FC2-99DD7BCD011E}"/>
              </a:ext>
            </a:extLst>
          </p:cNvPr>
          <p:cNvSpPr/>
          <p:nvPr/>
        </p:nvSpPr>
        <p:spPr>
          <a:xfrm>
            <a:off x="3261673" y="1187779"/>
            <a:ext cx="1407037"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B879FA0-2E18-48F8-A9EA-3D16AD7948D9}"/>
              </a:ext>
            </a:extLst>
          </p:cNvPr>
          <p:cNvSpPr/>
          <p:nvPr/>
        </p:nvSpPr>
        <p:spPr>
          <a:xfrm>
            <a:off x="4696120" y="1189347"/>
            <a:ext cx="1407037"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09092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9884-458B-49A2-9057-5BA2E985F9EF}"/>
              </a:ext>
            </a:extLst>
          </p:cNvPr>
          <p:cNvSpPr>
            <a:spLocks noGrp="1"/>
          </p:cNvSpPr>
          <p:nvPr>
            <p:ph type="title"/>
          </p:nvPr>
        </p:nvSpPr>
        <p:spPr>
          <a:xfrm>
            <a:off x="3912648" y="0"/>
            <a:ext cx="3731844" cy="582803"/>
          </a:xfrm>
        </p:spPr>
        <p:txBody>
          <a:bodyPr>
            <a:normAutofit/>
          </a:bodyPr>
          <a:lstStyle/>
          <a:p>
            <a:r>
              <a:rPr lang="en-US" sz="2400" dirty="0"/>
              <a:t>   7) Data Modeling </a:t>
            </a:r>
          </a:p>
        </p:txBody>
      </p:sp>
      <p:pic>
        <p:nvPicPr>
          <p:cNvPr id="5" name="Picture 4">
            <a:extLst>
              <a:ext uri="{FF2B5EF4-FFF2-40B4-BE49-F238E27FC236}">
                <a16:creationId xmlns:a16="http://schemas.microsoft.com/office/drawing/2014/main" id="{2B501ACD-E26C-4436-BDD4-479BE7917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375" y="582803"/>
            <a:ext cx="10195250" cy="6149381"/>
          </a:xfrm>
          <a:prstGeom prst="rect">
            <a:avLst/>
          </a:prstGeom>
        </p:spPr>
      </p:pic>
    </p:spTree>
    <p:extLst>
      <p:ext uri="{BB962C8B-B14F-4D97-AF65-F5344CB8AC3E}">
        <p14:creationId xmlns:p14="http://schemas.microsoft.com/office/powerpoint/2010/main" val="1394067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009E84-5CC5-4684-92B0-142E6A7C53A9}"/>
              </a:ext>
            </a:extLst>
          </p:cNvPr>
          <p:cNvSpPr txBox="1"/>
          <p:nvPr/>
        </p:nvSpPr>
        <p:spPr>
          <a:xfrm>
            <a:off x="138259" y="179103"/>
            <a:ext cx="3657600" cy="369332"/>
          </a:xfrm>
          <a:prstGeom prst="rect">
            <a:avLst/>
          </a:prstGeom>
          <a:noFill/>
        </p:spPr>
        <p:txBody>
          <a:bodyPr wrap="square" rtlCol="0">
            <a:spAutoFit/>
          </a:bodyPr>
          <a:lstStyle/>
          <a:p>
            <a:r>
              <a:rPr lang="en-US" dirty="0"/>
              <a:t>1) Calculated Columns (6)</a:t>
            </a:r>
          </a:p>
        </p:txBody>
      </p:sp>
      <p:pic>
        <p:nvPicPr>
          <p:cNvPr id="12" name="Picture 11">
            <a:extLst>
              <a:ext uri="{FF2B5EF4-FFF2-40B4-BE49-F238E27FC236}">
                <a16:creationId xmlns:a16="http://schemas.microsoft.com/office/drawing/2014/main" id="{C838D6D2-A62D-48E7-84F0-D760C3544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259" y="3429000"/>
            <a:ext cx="11915481" cy="3036068"/>
          </a:xfrm>
          <a:prstGeom prst="rect">
            <a:avLst/>
          </a:prstGeom>
        </p:spPr>
      </p:pic>
      <p:sp>
        <p:nvSpPr>
          <p:cNvPr id="9" name="Rectangle: Rounded Corners 8">
            <a:extLst>
              <a:ext uri="{FF2B5EF4-FFF2-40B4-BE49-F238E27FC236}">
                <a16:creationId xmlns:a16="http://schemas.microsoft.com/office/drawing/2014/main" id="{A277FD5A-A476-4F04-B4F5-E4F784E7C2A2}"/>
              </a:ext>
            </a:extLst>
          </p:cNvPr>
          <p:cNvSpPr/>
          <p:nvPr/>
        </p:nvSpPr>
        <p:spPr>
          <a:xfrm>
            <a:off x="677317" y="3465531"/>
            <a:ext cx="498677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CD79D1D-6750-446D-B427-6D8F422C2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59" y="714247"/>
            <a:ext cx="11915481" cy="2678223"/>
          </a:xfrm>
          <a:prstGeom prst="rect">
            <a:avLst/>
          </a:prstGeom>
        </p:spPr>
      </p:pic>
      <p:sp>
        <p:nvSpPr>
          <p:cNvPr id="14" name="Rectangle: Rounded Corners 13">
            <a:extLst>
              <a:ext uri="{FF2B5EF4-FFF2-40B4-BE49-F238E27FC236}">
                <a16:creationId xmlns:a16="http://schemas.microsoft.com/office/drawing/2014/main" id="{3461484D-675D-47F1-9AB6-5791B3E71D39}"/>
              </a:ext>
            </a:extLst>
          </p:cNvPr>
          <p:cNvSpPr/>
          <p:nvPr/>
        </p:nvSpPr>
        <p:spPr>
          <a:xfrm>
            <a:off x="189637" y="747830"/>
            <a:ext cx="4986779" cy="15076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25D5D3E5-E06F-4CEE-91D9-555BB1D46B12}"/>
              </a:ext>
            </a:extLst>
          </p:cNvPr>
          <p:cNvSpPr>
            <a:spLocks noGrp="1"/>
          </p:cNvSpPr>
          <p:nvPr>
            <p:ph type="title"/>
          </p:nvPr>
        </p:nvSpPr>
        <p:spPr>
          <a:xfrm>
            <a:off x="2878814" y="-244098"/>
            <a:ext cx="5164382" cy="997202"/>
          </a:xfrm>
        </p:spPr>
        <p:txBody>
          <a:bodyPr>
            <a:normAutofit fontScale="90000"/>
          </a:bodyPr>
          <a:lstStyle/>
          <a:p>
            <a:r>
              <a:rPr lang="en-US" sz="2400" dirty="0"/>
              <a:t> 8)</a:t>
            </a:r>
            <a:r>
              <a:rPr lang="en-US" sz="1200" dirty="0"/>
              <a:t> </a:t>
            </a:r>
            <a:r>
              <a:rPr lang="en-US" sz="2700" dirty="0"/>
              <a:t>Data Analysis Expressions</a:t>
            </a:r>
            <a:r>
              <a:rPr lang="en-US" sz="4900" dirty="0"/>
              <a:t> </a:t>
            </a:r>
            <a:r>
              <a:rPr lang="en-US" sz="2400" dirty="0"/>
              <a:t>(DAX) </a:t>
            </a:r>
          </a:p>
        </p:txBody>
      </p:sp>
    </p:spTree>
    <p:extLst>
      <p:ext uri="{BB962C8B-B14F-4D97-AF65-F5344CB8AC3E}">
        <p14:creationId xmlns:p14="http://schemas.microsoft.com/office/powerpoint/2010/main" val="13236972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683C52-4E8F-4CDD-BE0F-1AD59F3D9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095" y="3350568"/>
            <a:ext cx="11935803" cy="2844740"/>
          </a:xfrm>
          <a:prstGeom prst="rect">
            <a:avLst/>
          </a:prstGeom>
        </p:spPr>
      </p:pic>
      <p:pic>
        <p:nvPicPr>
          <p:cNvPr id="9" name="Picture 8">
            <a:extLst>
              <a:ext uri="{FF2B5EF4-FFF2-40B4-BE49-F238E27FC236}">
                <a16:creationId xmlns:a16="http://schemas.microsoft.com/office/drawing/2014/main" id="{92E9B531-0979-463F-B2F3-ED8BC4407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96" y="662692"/>
            <a:ext cx="11935803" cy="2591538"/>
          </a:xfrm>
          <a:prstGeom prst="rect">
            <a:avLst/>
          </a:prstGeom>
        </p:spPr>
      </p:pic>
      <p:sp>
        <p:nvSpPr>
          <p:cNvPr id="10" name="TextBox 9">
            <a:extLst>
              <a:ext uri="{FF2B5EF4-FFF2-40B4-BE49-F238E27FC236}">
                <a16:creationId xmlns:a16="http://schemas.microsoft.com/office/drawing/2014/main" id="{48FA0197-4641-4F00-8188-45723B0B5430}"/>
              </a:ext>
            </a:extLst>
          </p:cNvPr>
          <p:cNvSpPr txBox="1"/>
          <p:nvPr/>
        </p:nvSpPr>
        <p:spPr>
          <a:xfrm>
            <a:off x="4867825" y="103980"/>
            <a:ext cx="3657600" cy="369332"/>
          </a:xfrm>
          <a:prstGeom prst="rect">
            <a:avLst/>
          </a:prstGeom>
          <a:noFill/>
        </p:spPr>
        <p:txBody>
          <a:bodyPr wrap="square" rtlCol="0">
            <a:spAutoFit/>
          </a:bodyPr>
          <a:lstStyle/>
          <a:p>
            <a:r>
              <a:rPr lang="en-US" dirty="0"/>
              <a:t>DAX</a:t>
            </a:r>
          </a:p>
        </p:txBody>
      </p:sp>
      <p:sp>
        <p:nvSpPr>
          <p:cNvPr id="6" name="Rectangle: Rounded Corners 5">
            <a:extLst>
              <a:ext uri="{FF2B5EF4-FFF2-40B4-BE49-F238E27FC236}">
                <a16:creationId xmlns:a16="http://schemas.microsoft.com/office/drawing/2014/main" id="{29F1C2B9-C92C-4822-9EA8-C180DBC92ACF}"/>
              </a:ext>
            </a:extLst>
          </p:cNvPr>
          <p:cNvSpPr/>
          <p:nvPr/>
        </p:nvSpPr>
        <p:spPr>
          <a:xfrm>
            <a:off x="774568" y="3429000"/>
            <a:ext cx="6832861" cy="24789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16C4865-6738-425F-B6B3-8258E9AA32AC}"/>
              </a:ext>
            </a:extLst>
          </p:cNvPr>
          <p:cNvSpPr/>
          <p:nvPr/>
        </p:nvSpPr>
        <p:spPr>
          <a:xfrm>
            <a:off x="774568" y="697194"/>
            <a:ext cx="6832861" cy="29261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584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86FEA0-26BA-4330-9D59-A2EBE184AC60}"/>
              </a:ext>
            </a:extLst>
          </p:cNvPr>
          <p:cNvSpPr txBox="1"/>
          <p:nvPr/>
        </p:nvSpPr>
        <p:spPr>
          <a:xfrm>
            <a:off x="4801836" y="18111"/>
            <a:ext cx="3657600" cy="369332"/>
          </a:xfrm>
          <a:prstGeom prst="rect">
            <a:avLst/>
          </a:prstGeom>
          <a:noFill/>
        </p:spPr>
        <p:txBody>
          <a:bodyPr wrap="square" rtlCol="0">
            <a:spAutoFit/>
          </a:bodyPr>
          <a:lstStyle/>
          <a:p>
            <a:r>
              <a:rPr lang="en-US" dirty="0"/>
              <a:t>DAX</a:t>
            </a:r>
          </a:p>
        </p:txBody>
      </p:sp>
      <p:pic>
        <p:nvPicPr>
          <p:cNvPr id="7" name="Picture 6">
            <a:extLst>
              <a:ext uri="{FF2B5EF4-FFF2-40B4-BE49-F238E27FC236}">
                <a16:creationId xmlns:a16="http://schemas.microsoft.com/office/drawing/2014/main" id="{EE47DB22-26A0-4EE0-B13F-D8812F31B5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69" y="481084"/>
            <a:ext cx="11739062" cy="2403518"/>
          </a:xfrm>
          <a:prstGeom prst="rect">
            <a:avLst/>
          </a:prstGeom>
        </p:spPr>
      </p:pic>
      <p:pic>
        <p:nvPicPr>
          <p:cNvPr id="9" name="Picture 8">
            <a:extLst>
              <a:ext uri="{FF2B5EF4-FFF2-40B4-BE49-F238E27FC236}">
                <a16:creationId xmlns:a16="http://schemas.microsoft.com/office/drawing/2014/main" id="{289B91A7-CE66-4C10-806E-EB78F10A7D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469" y="2986301"/>
            <a:ext cx="11739062" cy="3769373"/>
          </a:xfrm>
          <a:prstGeom prst="rect">
            <a:avLst/>
          </a:prstGeom>
        </p:spPr>
      </p:pic>
      <p:sp>
        <p:nvSpPr>
          <p:cNvPr id="6" name="Rectangle: Rounded Corners 5">
            <a:extLst>
              <a:ext uri="{FF2B5EF4-FFF2-40B4-BE49-F238E27FC236}">
                <a16:creationId xmlns:a16="http://schemas.microsoft.com/office/drawing/2014/main" id="{25BD66A6-9AAF-4A61-BD73-954C1D050250}"/>
              </a:ext>
            </a:extLst>
          </p:cNvPr>
          <p:cNvSpPr/>
          <p:nvPr/>
        </p:nvSpPr>
        <p:spPr>
          <a:xfrm>
            <a:off x="840556" y="538943"/>
            <a:ext cx="6832861" cy="29261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7FA0E44-7ECF-4334-AEE5-4725D80E3CA0}"/>
              </a:ext>
            </a:extLst>
          </p:cNvPr>
          <p:cNvSpPr/>
          <p:nvPr/>
        </p:nvSpPr>
        <p:spPr>
          <a:xfrm>
            <a:off x="915969" y="3014582"/>
            <a:ext cx="6832861" cy="21418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47553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DE728BC-9636-4AE9-BFEB-BD7B7F49B603}"/>
              </a:ext>
            </a:extLst>
          </p:cNvPr>
          <p:cNvSpPr txBox="1"/>
          <p:nvPr/>
        </p:nvSpPr>
        <p:spPr>
          <a:xfrm>
            <a:off x="21704" y="254503"/>
            <a:ext cx="2485825" cy="369332"/>
          </a:xfrm>
          <a:prstGeom prst="rect">
            <a:avLst/>
          </a:prstGeom>
          <a:noFill/>
        </p:spPr>
        <p:txBody>
          <a:bodyPr wrap="square" rtlCol="0">
            <a:spAutoFit/>
          </a:bodyPr>
          <a:lstStyle/>
          <a:p>
            <a:r>
              <a:rPr lang="en-US" dirty="0"/>
              <a:t>2) DAX By Measures </a:t>
            </a:r>
          </a:p>
        </p:txBody>
      </p:sp>
      <p:pic>
        <p:nvPicPr>
          <p:cNvPr id="4" name="Picture 3">
            <a:extLst>
              <a:ext uri="{FF2B5EF4-FFF2-40B4-BE49-F238E27FC236}">
                <a16:creationId xmlns:a16="http://schemas.microsoft.com/office/drawing/2014/main" id="{F028FB8E-E8FB-4799-BF6B-C85B6A33C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7666" y="372463"/>
            <a:ext cx="2192629" cy="5744089"/>
          </a:xfrm>
          <a:prstGeom prst="rect">
            <a:avLst/>
          </a:prstGeom>
        </p:spPr>
      </p:pic>
      <p:pic>
        <p:nvPicPr>
          <p:cNvPr id="7" name="Picture 6">
            <a:extLst>
              <a:ext uri="{FF2B5EF4-FFF2-40B4-BE49-F238E27FC236}">
                <a16:creationId xmlns:a16="http://schemas.microsoft.com/office/drawing/2014/main" id="{7BE6ECF8-A112-4DA7-BFD1-A1A44F48DE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04" y="1300899"/>
            <a:ext cx="4122181" cy="477778"/>
          </a:xfrm>
          <a:prstGeom prst="rect">
            <a:avLst/>
          </a:prstGeom>
        </p:spPr>
      </p:pic>
      <p:pic>
        <p:nvPicPr>
          <p:cNvPr id="13" name="Picture 12">
            <a:extLst>
              <a:ext uri="{FF2B5EF4-FFF2-40B4-BE49-F238E27FC236}">
                <a16:creationId xmlns:a16="http://schemas.microsoft.com/office/drawing/2014/main" id="{E20177D1-DCA8-48ED-9E61-4BDEA10BF4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05" y="1865900"/>
            <a:ext cx="8779001" cy="557619"/>
          </a:xfrm>
          <a:prstGeom prst="rect">
            <a:avLst/>
          </a:prstGeom>
        </p:spPr>
      </p:pic>
      <p:pic>
        <p:nvPicPr>
          <p:cNvPr id="17" name="Picture 16">
            <a:extLst>
              <a:ext uri="{FF2B5EF4-FFF2-40B4-BE49-F238E27FC236}">
                <a16:creationId xmlns:a16="http://schemas.microsoft.com/office/drawing/2014/main" id="{46481335-DBF2-4DE4-BF2C-FD7D383D87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705" y="2510742"/>
            <a:ext cx="8779001" cy="557618"/>
          </a:xfrm>
          <a:prstGeom prst="rect">
            <a:avLst/>
          </a:prstGeom>
        </p:spPr>
      </p:pic>
      <p:pic>
        <p:nvPicPr>
          <p:cNvPr id="19" name="Picture 18">
            <a:extLst>
              <a:ext uri="{FF2B5EF4-FFF2-40B4-BE49-F238E27FC236}">
                <a16:creationId xmlns:a16="http://schemas.microsoft.com/office/drawing/2014/main" id="{D47DC938-5F3E-464C-AF8F-22486876B2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704" y="3155583"/>
            <a:ext cx="8779002" cy="510001"/>
          </a:xfrm>
          <a:prstGeom prst="rect">
            <a:avLst/>
          </a:prstGeom>
        </p:spPr>
      </p:pic>
      <p:pic>
        <p:nvPicPr>
          <p:cNvPr id="21" name="Picture 20">
            <a:extLst>
              <a:ext uri="{FF2B5EF4-FFF2-40B4-BE49-F238E27FC236}">
                <a16:creationId xmlns:a16="http://schemas.microsoft.com/office/drawing/2014/main" id="{D7D76825-406D-40F0-A62F-5EFF3B7363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704" y="3703292"/>
            <a:ext cx="5100141" cy="2367570"/>
          </a:xfrm>
          <a:prstGeom prst="rect">
            <a:avLst/>
          </a:prstGeom>
        </p:spPr>
      </p:pic>
      <p:pic>
        <p:nvPicPr>
          <p:cNvPr id="25" name="Picture 24">
            <a:extLst>
              <a:ext uri="{FF2B5EF4-FFF2-40B4-BE49-F238E27FC236}">
                <a16:creationId xmlns:a16="http://schemas.microsoft.com/office/drawing/2014/main" id="{BE15021C-A229-4383-BD7E-D0F0C4F0F28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704" y="691007"/>
            <a:ext cx="4220102" cy="477777"/>
          </a:xfrm>
          <a:prstGeom prst="rect">
            <a:avLst/>
          </a:prstGeom>
        </p:spPr>
      </p:pic>
      <p:pic>
        <p:nvPicPr>
          <p:cNvPr id="27" name="Picture 26">
            <a:extLst>
              <a:ext uri="{FF2B5EF4-FFF2-40B4-BE49-F238E27FC236}">
                <a16:creationId xmlns:a16="http://schemas.microsoft.com/office/drawing/2014/main" id="{8247A3CB-BD96-4FA8-B18E-A14A69B7AE0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241806" y="1295927"/>
            <a:ext cx="4558900" cy="477777"/>
          </a:xfrm>
          <a:prstGeom prst="rect">
            <a:avLst/>
          </a:prstGeom>
        </p:spPr>
      </p:pic>
      <p:pic>
        <p:nvPicPr>
          <p:cNvPr id="3" name="Picture 2">
            <a:extLst>
              <a:ext uri="{FF2B5EF4-FFF2-40B4-BE49-F238E27FC236}">
                <a16:creationId xmlns:a16="http://schemas.microsoft.com/office/drawing/2014/main" id="{2B063292-2E7F-4BB0-9C6C-A0252E934F8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91099" y="3703292"/>
            <a:ext cx="4648603" cy="2367570"/>
          </a:xfrm>
          <a:prstGeom prst="rect">
            <a:avLst/>
          </a:prstGeom>
        </p:spPr>
      </p:pic>
    </p:spTree>
    <p:extLst>
      <p:ext uri="{BB962C8B-B14F-4D97-AF65-F5344CB8AC3E}">
        <p14:creationId xmlns:p14="http://schemas.microsoft.com/office/powerpoint/2010/main" val="36393247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2" name="Google Shape;17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7" name="Title 1">
            <a:extLst>
              <a:ext uri="{FF2B5EF4-FFF2-40B4-BE49-F238E27FC236}">
                <a16:creationId xmlns:a16="http://schemas.microsoft.com/office/drawing/2014/main" id="{2D819879-8800-4BF9-BE6E-8730BC9F05F6}"/>
              </a:ext>
            </a:extLst>
          </p:cNvPr>
          <p:cNvSpPr txBox="1">
            <a:spLocks/>
          </p:cNvSpPr>
          <p:nvPr/>
        </p:nvSpPr>
        <p:spPr>
          <a:xfrm>
            <a:off x="4105546" y="107138"/>
            <a:ext cx="3731844" cy="66434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9) Sample Visuals </a:t>
            </a:r>
          </a:p>
        </p:txBody>
      </p:sp>
      <p:sp>
        <p:nvSpPr>
          <p:cNvPr id="4" name="TextBox 3">
            <a:extLst>
              <a:ext uri="{FF2B5EF4-FFF2-40B4-BE49-F238E27FC236}">
                <a16:creationId xmlns:a16="http://schemas.microsoft.com/office/drawing/2014/main" id="{4DE61AC2-34AF-45CA-809A-6C0695F0BE93}"/>
              </a:ext>
            </a:extLst>
          </p:cNvPr>
          <p:cNvSpPr txBox="1"/>
          <p:nvPr/>
        </p:nvSpPr>
        <p:spPr>
          <a:xfrm>
            <a:off x="139831" y="428370"/>
            <a:ext cx="2960017" cy="461665"/>
          </a:xfrm>
          <a:prstGeom prst="rect">
            <a:avLst/>
          </a:prstGeom>
          <a:noFill/>
        </p:spPr>
        <p:txBody>
          <a:bodyPr wrap="square" rtlCol="0">
            <a:spAutoFit/>
          </a:bodyPr>
          <a:lstStyle/>
          <a:p>
            <a:r>
              <a:rPr lang="en-US" dirty="0"/>
              <a:t>1) </a:t>
            </a:r>
            <a:r>
              <a:rPr lang="en-US" sz="2400" dirty="0"/>
              <a:t>Gauge chart</a:t>
            </a:r>
            <a:endParaRPr lang="en-US" dirty="0"/>
          </a:p>
        </p:txBody>
      </p:sp>
      <p:sp>
        <p:nvSpPr>
          <p:cNvPr id="11" name="TextBox 10">
            <a:extLst>
              <a:ext uri="{FF2B5EF4-FFF2-40B4-BE49-F238E27FC236}">
                <a16:creationId xmlns:a16="http://schemas.microsoft.com/office/drawing/2014/main" id="{8C537489-B386-4385-B95C-9C846EA9908E}"/>
              </a:ext>
            </a:extLst>
          </p:cNvPr>
          <p:cNvSpPr txBox="1"/>
          <p:nvPr/>
        </p:nvSpPr>
        <p:spPr>
          <a:xfrm>
            <a:off x="571379" y="890035"/>
            <a:ext cx="6289250" cy="3139321"/>
          </a:xfrm>
          <a:prstGeom prst="rect">
            <a:avLst/>
          </a:prstGeom>
          <a:noFill/>
        </p:spPr>
        <p:txBody>
          <a:bodyPr wrap="square" rtlCol="0">
            <a:spAutoFit/>
          </a:bodyPr>
          <a:lstStyle/>
          <a:p>
            <a:r>
              <a:rPr lang="en-US" b="1" i="0" dirty="0">
                <a:effectLst/>
                <a:latin typeface="Segoe UI" panose="020B0502040204020203" pitchFamily="34" charset="0"/>
              </a:rPr>
              <a:t>Definition</a:t>
            </a:r>
          </a:p>
          <a:p>
            <a:r>
              <a:rPr lang="en-US" b="0" i="0" dirty="0">
                <a:effectLst/>
                <a:latin typeface="Segoe UI" panose="020B0502040204020203" pitchFamily="34" charset="0"/>
              </a:rPr>
              <a:t>  A radial gauge chart uses a circular arc to show how a single value progresses toward a goal or a Key Performance Indicator (KPI).</a:t>
            </a:r>
          </a:p>
          <a:p>
            <a:r>
              <a:rPr lang="en-US" b="0" i="0" dirty="0">
                <a:effectLst/>
                <a:latin typeface="Segoe UI" panose="020B0502040204020203" pitchFamily="34" charset="0"/>
              </a:rPr>
              <a:t> The gauge line (or </a:t>
            </a:r>
            <a:r>
              <a:rPr lang="en-US" b="0" i="1" dirty="0">
                <a:effectLst/>
                <a:latin typeface="Segoe UI" panose="020B0502040204020203" pitchFamily="34" charset="0"/>
              </a:rPr>
              <a:t>needle</a:t>
            </a:r>
            <a:r>
              <a:rPr lang="en-US" b="0" i="0" dirty="0">
                <a:effectLst/>
                <a:latin typeface="Segoe UI" panose="020B0502040204020203" pitchFamily="34" charset="0"/>
              </a:rPr>
              <a:t>) represents the goal or target value.</a:t>
            </a:r>
          </a:p>
          <a:p>
            <a:r>
              <a:rPr lang="en-US" b="0" i="0" dirty="0">
                <a:effectLst/>
                <a:latin typeface="Segoe UI" panose="020B0502040204020203" pitchFamily="34" charset="0"/>
              </a:rPr>
              <a:t> The shading represents the progress toward the goal.</a:t>
            </a:r>
          </a:p>
          <a:p>
            <a:r>
              <a:rPr lang="en-US" b="0" i="0" dirty="0">
                <a:effectLst/>
                <a:latin typeface="Segoe UI" panose="020B0502040204020203" pitchFamily="34" charset="0"/>
              </a:rPr>
              <a:t> The value inside the arc represents the progress value.</a:t>
            </a:r>
          </a:p>
          <a:p>
            <a:r>
              <a:rPr lang="en-US" b="0" i="0" dirty="0">
                <a:effectLst/>
                <a:latin typeface="Segoe UI" panose="020B0502040204020203" pitchFamily="34" charset="0"/>
              </a:rPr>
              <a:t> Power BI spreads all possible values evenly along the arc,    from the minimum (left-most value) to the maximum (right-most value).</a:t>
            </a:r>
            <a:endParaRPr lang="en-US" dirty="0"/>
          </a:p>
        </p:txBody>
      </p:sp>
      <p:sp>
        <p:nvSpPr>
          <p:cNvPr id="12" name="TextBox 11">
            <a:extLst>
              <a:ext uri="{FF2B5EF4-FFF2-40B4-BE49-F238E27FC236}">
                <a16:creationId xmlns:a16="http://schemas.microsoft.com/office/drawing/2014/main" id="{28AF089C-8514-4924-8E6C-66BA1A5B17FA}"/>
              </a:ext>
            </a:extLst>
          </p:cNvPr>
          <p:cNvSpPr txBox="1"/>
          <p:nvPr/>
        </p:nvSpPr>
        <p:spPr>
          <a:xfrm>
            <a:off x="571379" y="4042645"/>
            <a:ext cx="5954597" cy="2031325"/>
          </a:xfrm>
          <a:prstGeom prst="rect">
            <a:avLst/>
          </a:prstGeom>
          <a:noFill/>
        </p:spPr>
        <p:txBody>
          <a:bodyPr wrap="square" rtlCol="0">
            <a:spAutoFit/>
          </a:bodyPr>
          <a:lstStyle/>
          <a:p>
            <a:pPr algn="l"/>
            <a:r>
              <a:rPr lang="en-US" b="1" i="0" dirty="0">
                <a:effectLst/>
                <a:latin typeface="Segoe UI" panose="020B0502040204020203" pitchFamily="34" charset="0"/>
              </a:rPr>
              <a:t>When to use a radial gauge</a:t>
            </a:r>
          </a:p>
          <a:p>
            <a:pPr algn="l"/>
            <a:r>
              <a:rPr lang="en-US" b="0" i="0" dirty="0">
                <a:effectLst/>
                <a:latin typeface="Segoe UI" panose="020B0502040204020203" pitchFamily="34" charset="0"/>
              </a:rPr>
              <a:t>Radial gauges are a great choice in many scenarios:</a:t>
            </a:r>
          </a:p>
          <a:p>
            <a:pPr algn="l">
              <a:buFont typeface="Arial" panose="020B0604020202020204" pitchFamily="34" charset="0"/>
              <a:buChar char="•"/>
            </a:pPr>
            <a:r>
              <a:rPr lang="en-US" i="1" dirty="0">
                <a:effectLst/>
                <a:latin typeface="Perpetua Titling MT" panose="02020502060505020804" pitchFamily="18" charset="0"/>
              </a:rPr>
              <a:t>Show progress toward a goal.</a:t>
            </a:r>
          </a:p>
          <a:p>
            <a:pPr algn="l">
              <a:buFont typeface="Arial" panose="020B0604020202020204" pitchFamily="34" charset="0"/>
              <a:buChar char="•"/>
            </a:pPr>
            <a:r>
              <a:rPr lang="en-US" b="0" i="0" dirty="0">
                <a:effectLst/>
                <a:latin typeface="Segoe UI" panose="020B0502040204020203" pitchFamily="34" charset="0"/>
              </a:rPr>
              <a:t>Represent a percentile measure, like a KPI.</a:t>
            </a:r>
          </a:p>
          <a:p>
            <a:pPr algn="l">
              <a:buFont typeface="Arial" panose="020B0604020202020204" pitchFamily="34" charset="0"/>
              <a:buChar char="•"/>
            </a:pPr>
            <a:r>
              <a:rPr lang="en-US" b="0" i="0" dirty="0">
                <a:effectLst/>
                <a:latin typeface="Segoe UI" panose="020B0502040204020203" pitchFamily="34" charset="0"/>
              </a:rPr>
              <a:t>Show the health of a single measure.</a:t>
            </a:r>
          </a:p>
          <a:p>
            <a:pPr algn="l">
              <a:buFont typeface="Arial" panose="020B0604020202020204" pitchFamily="34" charset="0"/>
              <a:buChar char="•"/>
            </a:pPr>
            <a:r>
              <a:rPr lang="en-US" b="0" i="0" dirty="0">
                <a:effectLst/>
                <a:latin typeface="Segoe UI" panose="020B0502040204020203" pitchFamily="34" charset="0"/>
              </a:rPr>
              <a:t>Display information that's easy to scan and understand.</a:t>
            </a:r>
          </a:p>
          <a:p>
            <a:endParaRPr lang="en-US" dirty="0"/>
          </a:p>
        </p:txBody>
      </p:sp>
      <p:pic>
        <p:nvPicPr>
          <p:cNvPr id="3" name="Picture 2">
            <a:extLst>
              <a:ext uri="{FF2B5EF4-FFF2-40B4-BE49-F238E27FC236}">
                <a16:creationId xmlns:a16="http://schemas.microsoft.com/office/drawing/2014/main" id="{0DEE75FF-C456-4134-A433-9BA935C9F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0629" y="2285752"/>
            <a:ext cx="4649733" cy="220526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p20"/>
          <p:cNvSpPr txBox="1">
            <a:spLocks noGrp="1"/>
          </p:cNvSpPr>
          <p:nvPr>
            <p:ph type="body" idx="1"/>
          </p:nvPr>
        </p:nvSpPr>
        <p:spPr>
          <a:xfrm>
            <a:off x="341275" y="538488"/>
            <a:ext cx="6189590" cy="250878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Clr>
                <a:schemeClr val="dk1"/>
              </a:buClr>
              <a:buSzPts val="1800"/>
              <a:buNone/>
            </a:pPr>
            <a:r>
              <a:rPr lang="en-US" b="1" dirty="0"/>
              <a:t>Definition</a:t>
            </a:r>
          </a:p>
          <a:p>
            <a:pPr marL="114300" lvl="0" indent="0" algn="l" rtl="0">
              <a:lnSpc>
                <a:spcPct val="90000"/>
              </a:lnSpc>
              <a:spcBef>
                <a:spcPts val="1000"/>
              </a:spcBef>
              <a:spcAft>
                <a:spcPts val="0"/>
              </a:spcAft>
              <a:buClr>
                <a:schemeClr val="dk1"/>
              </a:buClr>
              <a:buSzPts val="1800"/>
              <a:buNone/>
            </a:pPr>
            <a:r>
              <a:rPr lang="en-US" dirty="0"/>
              <a:t>  A pie chart is a circular statistical graphic divided into slices to illustrate numerical proportion, where each slice's arc length, area, and angle are proportional to the quantity it represents. The entire pie represents a total of (100%), making </a:t>
            </a:r>
            <a:r>
              <a:rPr lang="en-US" dirty="0">
                <a:latin typeface="Perpetua Titling MT" panose="02020502060505020804" pitchFamily="18" charset="0"/>
              </a:rPr>
              <a:t>it ideal for visualizing part-to-whole relationships with categorical data.</a:t>
            </a:r>
            <a:endParaRPr dirty="0">
              <a:latin typeface="Perpetua Titling MT" panose="02020502060505020804" pitchFamily="18" charset="0"/>
            </a:endParaRPr>
          </a:p>
        </p:txBody>
      </p:sp>
      <p:sp>
        <p:nvSpPr>
          <p:cNvPr id="260" name="Google Shape;260;p20"/>
          <p:cNvSpPr txBox="1">
            <a:spLocks noGrp="1"/>
          </p:cNvSpPr>
          <p:nvPr>
            <p:ph type="sldNum" idx="12"/>
          </p:nvPr>
        </p:nvSpPr>
        <p:spPr>
          <a:xfrm>
            <a:off x="8610600" y="63690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4" name="TextBox 3">
            <a:extLst>
              <a:ext uri="{FF2B5EF4-FFF2-40B4-BE49-F238E27FC236}">
                <a16:creationId xmlns:a16="http://schemas.microsoft.com/office/drawing/2014/main" id="{1AA8871C-CF26-4DB1-AE39-A5B9CED59F01}"/>
              </a:ext>
            </a:extLst>
          </p:cNvPr>
          <p:cNvSpPr txBox="1"/>
          <p:nvPr/>
        </p:nvSpPr>
        <p:spPr>
          <a:xfrm>
            <a:off x="116262" y="193228"/>
            <a:ext cx="2856322" cy="461665"/>
          </a:xfrm>
          <a:prstGeom prst="rect">
            <a:avLst/>
          </a:prstGeom>
          <a:noFill/>
        </p:spPr>
        <p:txBody>
          <a:bodyPr wrap="square" rtlCol="0">
            <a:spAutoFit/>
          </a:bodyPr>
          <a:lstStyle/>
          <a:p>
            <a:r>
              <a:rPr lang="en-US" dirty="0"/>
              <a:t>2) </a:t>
            </a:r>
            <a:r>
              <a:rPr lang="en-US" sz="2400" dirty="0"/>
              <a:t>Pie Chart</a:t>
            </a:r>
            <a:endParaRPr lang="en-US" dirty="0"/>
          </a:p>
        </p:txBody>
      </p:sp>
      <p:sp>
        <p:nvSpPr>
          <p:cNvPr id="5" name="TextBox 4">
            <a:extLst>
              <a:ext uri="{FF2B5EF4-FFF2-40B4-BE49-F238E27FC236}">
                <a16:creationId xmlns:a16="http://schemas.microsoft.com/office/drawing/2014/main" id="{283E10A0-A30E-40F7-B498-9A4D9EA62F61}"/>
              </a:ext>
            </a:extLst>
          </p:cNvPr>
          <p:cNvSpPr txBox="1"/>
          <p:nvPr/>
        </p:nvSpPr>
        <p:spPr>
          <a:xfrm>
            <a:off x="449003" y="2903192"/>
            <a:ext cx="6042582" cy="3416320"/>
          </a:xfrm>
          <a:prstGeom prst="rect">
            <a:avLst/>
          </a:prstGeom>
          <a:noFill/>
        </p:spPr>
        <p:txBody>
          <a:bodyPr wrap="square" rtlCol="0">
            <a:spAutoFit/>
          </a:bodyPr>
          <a:lstStyle/>
          <a:p>
            <a:r>
              <a:rPr lang="en-US" b="1" u="none" strike="noStrike" dirty="0">
                <a:effectLst/>
                <a:latin typeface="Google Sans"/>
              </a:rPr>
              <a:t>Key Characteristics &amp; Best Practices</a:t>
            </a:r>
            <a:endParaRPr lang="en-US" b="0" u="none" strike="noStrike" dirty="0">
              <a:effectLst/>
              <a:latin typeface="Google Sans"/>
            </a:endParaRPr>
          </a:p>
          <a:p>
            <a:pPr>
              <a:buFont typeface="Arial" panose="020B0604020202020204" pitchFamily="34" charset="0"/>
              <a:buChar char="•"/>
            </a:pPr>
            <a:r>
              <a:rPr lang="en-US" b="1" u="none" strike="noStrike" dirty="0">
                <a:effectLst/>
                <a:latin typeface="Google Sans"/>
              </a:rPr>
              <a:t>Purpose:</a:t>
            </a:r>
            <a:r>
              <a:rPr lang="en-US" b="0" u="none" strike="noStrike" dirty="0">
                <a:effectLst/>
                <a:latin typeface="Google Sans"/>
              </a:rPr>
              <a:t> Ideal for comparing parts of a whole (e.g., market share, budget breakdown) rather than comparing individual quantities.</a:t>
            </a:r>
          </a:p>
          <a:p>
            <a:pPr>
              <a:buFont typeface="Arial" panose="020B0604020202020204" pitchFamily="34" charset="0"/>
              <a:buChar char="•"/>
            </a:pPr>
            <a:r>
              <a:rPr lang="en-US" b="1" u="none" strike="noStrike" dirty="0">
                <a:effectLst/>
                <a:latin typeface="Google Sans"/>
              </a:rPr>
              <a:t>Structure:</a:t>
            </a:r>
            <a:r>
              <a:rPr lang="en-US" b="0" u="none" strike="noStrike" dirty="0">
                <a:effectLst/>
                <a:latin typeface="Google Sans"/>
              </a:rPr>
              <a:t> Composed of a circle divided into sectors (slices) with labels, often showing percentages.</a:t>
            </a:r>
          </a:p>
          <a:p>
            <a:pPr>
              <a:buFont typeface="Arial" panose="020B0604020202020204" pitchFamily="34" charset="0"/>
              <a:buChar char="•"/>
            </a:pPr>
            <a:r>
              <a:rPr lang="en-US" b="1" u="none" strike="noStrike" dirty="0">
                <a:effectLst/>
                <a:latin typeface="Google Sans"/>
              </a:rPr>
              <a:t>Limitation:</a:t>
            </a:r>
            <a:r>
              <a:rPr lang="en-US" b="0" u="none" strike="noStrike" dirty="0">
                <a:effectLst/>
                <a:latin typeface="Google Sans"/>
              </a:rPr>
              <a:t> </a:t>
            </a:r>
            <a:r>
              <a:rPr lang="en-US" b="0" u="none" strike="noStrike" dirty="0">
                <a:effectLst/>
                <a:latin typeface="Perpetua Titling MT" panose="02020502060505020804" pitchFamily="18" charset="0"/>
              </a:rPr>
              <a:t>Best used with a small number of categories</a:t>
            </a:r>
            <a:r>
              <a:rPr lang="en-US" b="0" u="none" strike="noStrike" dirty="0">
                <a:effectLst/>
                <a:latin typeface="Google Sans"/>
              </a:rPr>
              <a:t>; too many slices make the chart hard to read.</a:t>
            </a:r>
          </a:p>
          <a:p>
            <a:pPr>
              <a:buFont typeface="Arial" panose="020B0604020202020204" pitchFamily="34" charset="0"/>
              <a:buChar char="•"/>
            </a:pPr>
            <a:r>
              <a:rPr lang="en-US" b="1" u="none" strike="noStrike" dirty="0">
                <a:effectLst/>
                <a:latin typeface="Google Sans"/>
              </a:rPr>
              <a:t>Variations:</a:t>
            </a:r>
            <a:r>
              <a:rPr lang="en-US" b="0" u="none" strike="noStrike" dirty="0">
                <a:effectLst/>
                <a:latin typeface="Google Sans"/>
              </a:rPr>
              <a:t> </a:t>
            </a:r>
            <a:r>
              <a:rPr lang="en-US" b="0" u="none" strike="noStrike" dirty="0">
                <a:effectLst/>
                <a:latin typeface="Perpetua Titling MT" panose="02020502060505020804" pitchFamily="18" charset="0"/>
              </a:rPr>
              <a:t>A donut chart is a variation that represents data in a ring rather than a full circle</a:t>
            </a:r>
          </a:p>
          <a:p>
            <a:endParaRPr lang="en-US" dirty="0"/>
          </a:p>
        </p:txBody>
      </p:sp>
      <p:pic>
        <p:nvPicPr>
          <p:cNvPr id="3" name="Picture 2">
            <a:extLst>
              <a:ext uri="{FF2B5EF4-FFF2-40B4-BE49-F238E27FC236}">
                <a16:creationId xmlns:a16="http://schemas.microsoft.com/office/drawing/2014/main" id="{25577EE0-FC45-43A1-94F6-CD10F4ED6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2384" y="693852"/>
            <a:ext cx="4633516" cy="2353416"/>
          </a:xfrm>
          <a:prstGeom prst="rect">
            <a:avLst/>
          </a:prstGeom>
        </p:spPr>
      </p:pic>
      <p:pic>
        <p:nvPicPr>
          <p:cNvPr id="8" name="Picture 7">
            <a:extLst>
              <a:ext uri="{FF2B5EF4-FFF2-40B4-BE49-F238E27FC236}">
                <a16:creationId xmlns:a16="http://schemas.microsoft.com/office/drawing/2014/main" id="{67B5E6B7-7DB9-4CB3-85DB-C08B106B10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9313" y="3347752"/>
            <a:ext cx="5217716" cy="25271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DB167E-6CE8-4403-B003-C9A22ABC00FE}"/>
              </a:ext>
            </a:extLst>
          </p:cNvPr>
          <p:cNvSpPr txBox="1"/>
          <p:nvPr/>
        </p:nvSpPr>
        <p:spPr>
          <a:xfrm>
            <a:off x="84841" y="179109"/>
            <a:ext cx="3431357" cy="461665"/>
          </a:xfrm>
          <a:prstGeom prst="rect">
            <a:avLst/>
          </a:prstGeom>
          <a:noFill/>
        </p:spPr>
        <p:txBody>
          <a:bodyPr wrap="square" rtlCol="0">
            <a:spAutoFit/>
          </a:bodyPr>
          <a:lstStyle/>
          <a:p>
            <a:r>
              <a:rPr lang="en-US" dirty="0"/>
              <a:t>3) </a:t>
            </a:r>
            <a:r>
              <a:rPr lang="en-US" sz="2400" dirty="0"/>
              <a:t>Column Chart</a:t>
            </a:r>
            <a:endParaRPr lang="en-US" dirty="0"/>
          </a:p>
        </p:txBody>
      </p:sp>
      <p:sp>
        <p:nvSpPr>
          <p:cNvPr id="6" name="TextBox 5">
            <a:extLst>
              <a:ext uri="{FF2B5EF4-FFF2-40B4-BE49-F238E27FC236}">
                <a16:creationId xmlns:a16="http://schemas.microsoft.com/office/drawing/2014/main" id="{1F390D5E-8CE9-4311-81AB-79F69C39D114}"/>
              </a:ext>
            </a:extLst>
          </p:cNvPr>
          <p:cNvSpPr txBox="1"/>
          <p:nvPr/>
        </p:nvSpPr>
        <p:spPr>
          <a:xfrm>
            <a:off x="282805" y="3283153"/>
            <a:ext cx="2262433" cy="461665"/>
          </a:xfrm>
          <a:prstGeom prst="rect">
            <a:avLst/>
          </a:prstGeom>
          <a:noFill/>
        </p:spPr>
        <p:txBody>
          <a:bodyPr wrap="square" rtlCol="0">
            <a:spAutoFit/>
          </a:bodyPr>
          <a:lstStyle/>
          <a:p>
            <a:r>
              <a:rPr lang="en-US" dirty="0"/>
              <a:t>4) </a:t>
            </a:r>
            <a:r>
              <a:rPr lang="en-US" sz="2400" dirty="0"/>
              <a:t>Bar Chart</a:t>
            </a:r>
            <a:endParaRPr lang="en-US" dirty="0"/>
          </a:p>
        </p:txBody>
      </p:sp>
      <p:sp>
        <p:nvSpPr>
          <p:cNvPr id="7" name="TextBox 6">
            <a:extLst>
              <a:ext uri="{FF2B5EF4-FFF2-40B4-BE49-F238E27FC236}">
                <a16:creationId xmlns:a16="http://schemas.microsoft.com/office/drawing/2014/main" id="{AC453130-67BC-4262-B3AD-3644F45844CB}"/>
              </a:ext>
            </a:extLst>
          </p:cNvPr>
          <p:cNvSpPr txBox="1"/>
          <p:nvPr/>
        </p:nvSpPr>
        <p:spPr>
          <a:xfrm>
            <a:off x="282806" y="669302"/>
            <a:ext cx="7371761" cy="2585323"/>
          </a:xfrm>
          <a:prstGeom prst="rect">
            <a:avLst/>
          </a:prstGeom>
          <a:noFill/>
        </p:spPr>
        <p:txBody>
          <a:bodyPr wrap="square" rtlCol="0">
            <a:spAutoFit/>
          </a:bodyPr>
          <a:lstStyle/>
          <a:p>
            <a:r>
              <a:rPr lang="en-US" dirty="0"/>
              <a:t>    A column chart is a data visualization tool that uses vertical bars to compare numerical values across discrete categories or time periods.</a:t>
            </a:r>
          </a:p>
          <a:p>
            <a:endParaRPr lang="en-US" dirty="0"/>
          </a:p>
          <a:p>
            <a:r>
              <a:rPr lang="en-US" dirty="0"/>
              <a:t> It is highly effective for highlighting differences in proportions or trends over time, with the height of each column representing its value.</a:t>
            </a:r>
          </a:p>
          <a:p>
            <a:endParaRPr lang="en-US" dirty="0"/>
          </a:p>
          <a:p>
            <a:r>
              <a:rPr lang="en-US" dirty="0"/>
              <a:t> </a:t>
            </a:r>
            <a:r>
              <a:rPr lang="en-US" dirty="0">
                <a:latin typeface="Perpetua Titling MT" panose="02020502060505020804" pitchFamily="18" charset="0"/>
              </a:rPr>
              <a:t>They are best for 10 or fewer items.</a:t>
            </a:r>
          </a:p>
        </p:txBody>
      </p:sp>
      <p:sp>
        <p:nvSpPr>
          <p:cNvPr id="8" name="TextBox 7">
            <a:extLst>
              <a:ext uri="{FF2B5EF4-FFF2-40B4-BE49-F238E27FC236}">
                <a16:creationId xmlns:a16="http://schemas.microsoft.com/office/drawing/2014/main" id="{17BCF1EE-BC6A-4A2B-94C9-35AE5A7BA1B5}"/>
              </a:ext>
            </a:extLst>
          </p:cNvPr>
          <p:cNvSpPr txBox="1"/>
          <p:nvPr/>
        </p:nvSpPr>
        <p:spPr>
          <a:xfrm>
            <a:off x="282805" y="3865679"/>
            <a:ext cx="7371761" cy="2585323"/>
          </a:xfrm>
          <a:prstGeom prst="rect">
            <a:avLst/>
          </a:prstGeom>
          <a:noFill/>
        </p:spPr>
        <p:txBody>
          <a:bodyPr wrap="square" rtlCol="0">
            <a:spAutoFit/>
          </a:bodyPr>
          <a:lstStyle/>
          <a:p>
            <a:r>
              <a:rPr lang="en-US" dirty="0"/>
              <a:t>    The primary difference between a </a:t>
            </a:r>
            <a:r>
              <a:rPr lang="en-US" b="0" u="none" strike="noStrike" dirty="0">
                <a:effectLst/>
                <a:latin typeface="Google Sans"/>
              </a:rPr>
              <a:t>column chart</a:t>
            </a:r>
            <a:r>
              <a:rPr lang="en-US" dirty="0"/>
              <a:t> and a </a:t>
            </a:r>
            <a:r>
              <a:rPr lang="en-US" b="0" u="none" strike="noStrike" dirty="0">
                <a:effectLst/>
                <a:latin typeface="Google Sans"/>
              </a:rPr>
              <a:t>bar chart</a:t>
            </a:r>
            <a:r>
              <a:rPr lang="en-US" dirty="0"/>
              <a:t> is their orientation: column charts use vertical bars, while bar charts use horizontal bars.</a:t>
            </a:r>
          </a:p>
          <a:p>
            <a:endParaRPr lang="en-US" dirty="0"/>
          </a:p>
          <a:p>
            <a:r>
              <a:rPr lang="en-US" dirty="0"/>
              <a:t> Column charts are best for comparing fewer categories or displaying time series (left-to-right), </a:t>
            </a:r>
            <a:r>
              <a:rPr lang="en-US" dirty="0">
                <a:latin typeface="Perpetua Titling MT" panose="02020502060505020804" pitchFamily="18" charset="0"/>
              </a:rPr>
              <a:t>whereas bar charts are ideal for long category labels or ranking large numbers of items.</a:t>
            </a:r>
          </a:p>
          <a:p>
            <a:endParaRPr lang="en-US" dirty="0"/>
          </a:p>
        </p:txBody>
      </p:sp>
      <p:pic>
        <p:nvPicPr>
          <p:cNvPr id="3" name="Picture 2">
            <a:extLst>
              <a:ext uri="{FF2B5EF4-FFF2-40B4-BE49-F238E27FC236}">
                <a16:creationId xmlns:a16="http://schemas.microsoft.com/office/drawing/2014/main" id="{62D9B028-7A7E-4460-A9B8-4D6FD00BF5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5468" y="526180"/>
            <a:ext cx="4063958" cy="2682110"/>
          </a:xfrm>
          <a:prstGeom prst="rect">
            <a:avLst/>
          </a:prstGeom>
        </p:spPr>
      </p:pic>
      <p:pic>
        <p:nvPicPr>
          <p:cNvPr id="9" name="Picture 8">
            <a:extLst>
              <a:ext uri="{FF2B5EF4-FFF2-40B4-BE49-F238E27FC236}">
                <a16:creationId xmlns:a16="http://schemas.microsoft.com/office/drawing/2014/main" id="{290C4ED9-18EC-4159-96A0-42F495E2A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4566" y="3568392"/>
            <a:ext cx="4111487" cy="2620306"/>
          </a:xfrm>
          <a:prstGeom prst="rect">
            <a:avLst/>
          </a:prstGeom>
        </p:spPr>
      </p:pic>
    </p:spTree>
    <p:extLst>
      <p:ext uri="{BB962C8B-B14F-4D97-AF65-F5344CB8AC3E}">
        <p14:creationId xmlns:p14="http://schemas.microsoft.com/office/powerpoint/2010/main" val="27331136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1" name="Google Shape;251;p19"/>
          <p:cNvSpPr txBox="1">
            <a:spLocks noGrp="1"/>
          </p:cNvSpPr>
          <p:nvPr>
            <p:ph type="body" idx="1"/>
          </p:nvPr>
        </p:nvSpPr>
        <p:spPr>
          <a:xfrm>
            <a:off x="405203" y="915568"/>
            <a:ext cx="11189766" cy="147884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Clr>
                <a:schemeClr val="dk1"/>
              </a:buClr>
              <a:buSzPct val="69498"/>
              <a:buNone/>
            </a:pPr>
            <a:r>
              <a:rPr lang="en-US" dirty="0"/>
              <a:t>Line Graphs display quantitative values over a continuous interval or time.</a:t>
            </a:r>
          </a:p>
          <a:p>
            <a:pPr marL="114300" lvl="0" indent="0" algn="l" rtl="0">
              <a:lnSpc>
                <a:spcPct val="90000"/>
              </a:lnSpc>
              <a:spcBef>
                <a:spcPts val="1000"/>
              </a:spcBef>
              <a:spcAft>
                <a:spcPts val="0"/>
              </a:spcAft>
              <a:buClr>
                <a:schemeClr val="dk1"/>
              </a:buClr>
              <a:buSzPct val="69498"/>
              <a:buNone/>
            </a:pPr>
            <a:r>
              <a:rPr lang="en-US" dirty="0"/>
              <a:t>A Line Graph is most frequently </a:t>
            </a:r>
            <a:r>
              <a:rPr lang="en-US" dirty="0">
                <a:latin typeface="Perpetua Titling MT" panose="02020502060505020804" pitchFamily="18" charset="0"/>
              </a:rPr>
              <a:t>used to show trends and analyze how the data has changed over time.</a:t>
            </a:r>
            <a:endParaRPr dirty="0">
              <a:latin typeface="Perpetua Titling MT" panose="02020502060505020804" pitchFamily="18" charset="0"/>
            </a:endParaRPr>
          </a:p>
        </p:txBody>
      </p:sp>
      <p:sp>
        <p:nvSpPr>
          <p:cNvPr id="252" name="Google Shape;2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4" name="TextBox 3">
            <a:extLst>
              <a:ext uri="{FF2B5EF4-FFF2-40B4-BE49-F238E27FC236}">
                <a16:creationId xmlns:a16="http://schemas.microsoft.com/office/drawing/2014/main" id="{1B996DDE-B464-4220-89F8-ACDEE9F7D90D}"/>
              </a:ext>
            </a:extLst>
          </p:cNvPr>
          <p:cNvSpPr txBox="1"/>
          <p:nvPr/>
        </p:nvSpPr>
        <p:spPr>
          <a:xfrm>
            <a:off x="131975" y="461914"/>
            <a:ext cx="3780148" cy="461665"/>
          </a:xfrm>
          <a:prstGeom prst="rect">
            <a:avLst/>
          </a:prstGeom>
          <a:noFill/>
        </p:spPr>
        <p:txBody>
          <a:bodyPr wrap="square" rtlCol="0">
            <a:spAutoFit/>
          </a:bodyPr>
          <a:lstStyle/>
          <a:p>
            <a:r>
              <a:rPr lang="en-US" dirty="0"/>
              <a:t>4) </a:t>
            </a:r>
            <a:r>
              <a:rPr lang="en-US" sz="2400" dirty="0"/>
              <a:t>Line Chart</a:t>
            </a:r>
            <a:endParaRPr lang="en-US" dirty="0"/>
          </a:p>
        </p:txBody>
      </p:sp>
      <p:pic>
        <p:nvPicPr>
          <p:cNvPr id="3" name="Picture 2">
            <a:extLst>
              <a:ext uri="{FF2B5EF4-FFF2-40B4-BE49-F238E27FC236}">
                <a16:creationId xmlns:a16="http://schemas.microsoft.com/office/drawing/2014/main" id="{CF94BDC5-F769-45FA-8B17-BED5E9253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9598" y="2394408"/>
            <a:ext cx="6492803" cy="38712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15123-18FA-4CCC-B1ED-A4DDFEF3B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777" y="700803"/>
            <a:ext cx="9754445" cy="5456393"/>
          </a:xfrm>
          <a:prstGeom prst="rect">
            <a:avLst/>
          </a:prstGeom>
        </p:spPr>
      </p:pic>
    </p:spTree>
    <p:extLst>
      <p:ext uri="{BB962C8B-B14F-4D97-AF65-F5344CB8AC3E}">
        <p14:creationId xmlns:p14="http://schemas.microsoft.com/office/powerpoint/2010/main" val="31406130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97F22-9B0C-4B5A-9ADC-DC32348A2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777" y="731286"/>
            <a:ext cx="9754445" cy="5395428"/>
          </a:xfrm>
          <a:prstGeom prst="rect">
            <a:avLst/>
          </a:prstGeom>
        </p:spPr>
      </p:pic>
    </p:spTree>
    <p:extLst>
      <p:ext uri="{BB962C8B-B14F-4D97-AF65-F5344CB8AC3E}">
        <p14:creationId xmlns:p14="http://schemas.microsoft.com/office/powerpoint/2010/main" val="10707130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40855E-813F-4754-AF8B-67A2B3375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8311" y="712234"/>
            <a:ext cx="9655377" cy="5433531"/>
          </a:xfrm>
          <a:prstGeom prst="rect">
            <a:avLst/>
          </a:prstGeom>
        </p:spPr>
      </p:pic>
    </p:spTree>
    <p:extLst>
      <p:ext uri="{BB962C8B-B14F-4D97-AF65-F5344CB8AC3E}">
        <p14:creationId xmlns:p14="http://schemas.microsoft.com/office/powerpoint/2010/main" val="34958552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F0EAD4-3C83-4429-AEBC-A07FFC4D55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208" y="693183"/>
            <a:ext cx="9731583" cy="5471634"/>
          </a:xfrm>
          <a:prstGeom prst="rect">
            <a:avLst/>
          </a:prstGeom>
        </p:spPr>
      </p:pic>
    </p:spTree>
    <p:extLst>
      <p:ext uri="{BB962C8B-B14F-4D97-AF65-F5344CB8AC3E}">
        <p14:creationId xmlns:p14="http://schemas.microsoft.com/office/powerpoint/2010/main" val="3531525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AAE808-D436-41B2-B336-3E51898B3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6432" y="704614"/>
            <a:ext cx="9419136" cy="5448772"/>
          </a:xfrm>
          <a:prstGeom prst="rect">
            <a:avLst/>
          </a:prstGeom>
        </p:spPr>
      </p:pic>
    </p:spTree>
    <p:extLst>
      <p:ext uri="{BB962C8B-B14F-4D97-AF65-F5344CB8AC3E}">
        <p14:creationId xmlns:p14="http://schemas.microsoft.com/office/powerpoint/2010/main" val="6125239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CE563-70A5-4B94-86D6-C7BD83257E09}"/>
              </a:ext>
            </a:extLst>
          </p:cNvPr>
          <p:cNvSpPr>
            <a:spLocks noGrp="1"/>
          </p:cNvSpPr>
          <p:nvPr>
            <p:ph type="title"/>
          </p:nvPr>
        </p:nvSpPr>
        <p:spPr>
          <a:xfrm>
            <a:off x="-1625600" y="1288337"/>
            <a:ext cx="13329920" cy="3185120"/>
          </a:xfrm>
        </p:spPr>
        <p:txBody>
          <a:bodyPr>
            <a:noAutofit/>
          </a:bodyPr>
          <a:lstStyle/>
          <a:p>
            <a:pPr algn="ctr"/>
            <a:r>
              <a:rPr lang="en-US" sz="19300" dirty="0"/>
              <a:t>  </a:t>
            </a:r>
            <a:r>
              <a:rPr lang="en-US" sz="13400" dirty="0"/>
              <a:t>Thank You</a:t>
            </a:r>
            <a:endParaRPr lang="en-US" sz="4000" dirty="0"/>
          </a:p>
        </p:txBody>
      </p:sp>
      <p:pic>
        <p:nvPicPr>
          <p:cNvPr id="5" name="Content Placeholder 4">
            <a:extLst>
              <a:ext uri="{FF2B5EF4-FFF2-40B4-BE49-F238E27FC236}">
                <a16:creationId xmlns:a16="http://schemas.microsoft.com/office/drawing/2014/main" id="{2248FDD2-6309-4E2A-AD29-2425D34553CC}"/>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6362" y="5558155"/>
            <a:ext cx="984956" cy="554038"/>
          </a:xfrm>
        </p:spPr>
      </p:pic>
      <p:sp>
        <p:nvSpPr>
          <p:cNvPr id="8" name="TextBox 7">
            <a:extLst>
              <a:ext uri="{FF2B5EF4-FFF2-40B4-BE49-F238E27FC236}">
                <a16:creationId xmlns:a16="http://schemas.microsoft.com/office/drawing/2014/main" id="{8EDC1210-3D7F-467C-9E2E-0144A4B85D99}"/>
              </a:ext>
            </a:extLst>
          </p:cNvPr>
          <p:cNvSpPr txBox="1"/>
          <p:nvPr/>
        </p:nvSpPr>
        <p:spPr>
          <a:xfrm>
            <a:off x="1259558" y="5650508"/>
            <a:ext cx="2580922" cy="369332"/>
          </a:xfrm>
          <a:prstGeom prst="rect">
            <a:avLst/>
          </a:prstGeom>
          <a:noFill/>
        </p:spPr>
        <p:txBody>
          <a:bodyPr wrap="square" rtlCol="0">
            <a:spAutoFit/>
          </a:bodyPr>
          <a:lstStyle/>
          <a:p>
            <a:r>
              <a:rPr lang="en-US" i="1" u="sng" dirty="0"/>
              <a:t>GitHub Link</a:t>
            </a:r>
          </a:p>
        </p:txBody>
      </p:sp>
      <p:pic>
        <p:nvPicPr>
          <p:cNvPr id="6" name="Picture 5">
            <a:extLst>
              <a:ext uri="{FF2B5EF4-FFF2-40B4-BE49-F238E27FC236}">
                <a16:creationId xmlns:a16="http://schemas.microsoft.com/office/drawing/2014/main" id="{FE7E9063-543C-4EAF-B434-27926E4A088A}"/>
              </a:ext>
            </a:extLst>
          </p:cNvPr>
          <p:cNvPicPr>
            <a:picLocks noChangeAspect="1"/>
          </p:cNvPicPr>
          <p:nvPr/>
        </p:nvPicPr>
        <p:blipFill rotWithShape="1">
          <a:blip r:embed="rId4">
            <a:extLst>
              <a:ext uri="{28A0092B-C50C-407E-A947-70E740481C1C}">
                <a14:useLocalDpi xmlns:a14="http://schemas.microsoft.com/office/drawing/2010/main" val="0"/>
              </a:ext>
            </a:extLst>
          </a:blip>
          <a:srcRect l="2682" r="3687"/>
          <a:stretch/>
        </p:blipFill>
        <p:spPr>
          <a:xfrm>
            <a:off x="24647" y="512050"/>
            <a:ext cx="2030230" cy="1367868"/>
          </a:xfrm>
          <a:prstGeom prst="rect">
            <a:avLst/>
          </a:prstGeom>
        </p:spPr>
      </p:pic>
    </p:spTree>
    <p:extLst>
      <p:ext uri="{BB962C8B-B14F-4D97-AF65-F5344CB8AC3E}">
        <p14:creationId xmlns:p14="http://schemas.microsoft.com/office/powerpoint/2010/main" val="7064893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2556</TotalTime>
  <Words>949</Words>
  <Application>Microsoft Office PowerPoint</Application>
  <PresentationFormat>Widescreen</PresentationFormat>
  <Paragraphs>128</Paragraphs>
  <Slides>25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Google Sans</vt:lpstr>
      <vt:lpstr>Perpetua Titling MT</vt:lpstr>
      <vt:lpstr>Segoe UI</vt:lpstr>
      <vt:lpstr>Trebuchet MS</vt:lpstr>
      <vt:lpstr>Wingdings</vt:lpstr>
      <vt:lpstr>Wingdings 3</vt:lpstr>
      <vt:lpstr>Facet</vt:lpstr>
      <vt:lpstr>Manufacturing Downtime   Analysis Project</vt:lpstr>
      <vt:lpstr>Agenda</vt:lpstr>
      <vt:lpstr>      1)Team Members</vt:lpstr>
      <vt:lpstr>  2) Project Overview</vt:lpstr>
      <vt:lpstr>      3) Data Analysis Steps</vt:lpstr>
      <vt:lpstr>4) Collecting Data</vt:lpstr>
      <vt:lpstr>5) Questions We need to Answer </vt:lpstr>
      <vt:lpstr>      6) Data Cleaning</vt:lpstr>
      <vt:lpstr>Before</vt:lpstr>
      <vt:lpstr>After</vt:lpstr>
      <vt:lpstr>   7) Data Modeling </vt:lpstr>
      <vt:lpstr> 8) Data Analysis Expressions (DAX)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Downtime Project</dc:title>
  <dc:creator>youssefabdelgawad758@outlook.com</dc:creator>
  <cp:lastModifiedBy>يوسف بشير السيد عبداللطيف عبدالجواد</cp:lastModifiedBy>
  <cp:revision>111</cp:revision>
  <dcterms:created xsi:type="dcterms:W3CDTF">2026-03-08T21:28:05Z</dcterms:created>
  <dcterms:modified xsi:type="dcterms:W3CDTF">2026-05-15T01:10:38Z</dcterms:modified>
</cp:coreProperties>
</file>